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4" r:id="rId14"/>
    <p:sldId id="266" r:id="rId16"/>
    <p:sldId id="271" r:id="rId21"/>
    <p:sldId id="273" r:id="rId23"/>
    <p:sldId id="270" r:id="rId20"/>
    <p:sldId id="268" r:id="rId18"/>
    <p:sldId id="287" r:id="rId50"/>
    <p:sldId id="288" r:id="rId51"/>
    <p:sldId id="280" r:id="rId30"/>
    <p:sldId id="281" r:id="rId31"/>
    <p:sldId id="269" r:id="rId19"/>
    <p:sldId id="276" r:id="rId26"/>
    <p:sldId id="283" r:id="rId33"/>
    <p:sldId id="282" r:id="rId32"/>
    <p:sldId id="279" r:id="rId29"/>
    <p:sldId id="289" r:id="rId52"/>
    <p:sldId id="272" r:id="rId22"/>
    <p:sldId id="275" r:id="rId25"/>
    <p:sldId id="291" r:id="rId54"/>
    <p:sldId id="290" r:id="rId53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6" Type="http://schemas.openxmlformats.org/officeDocument/2006/relationships/slide" Target="slides/slide3.xml"/><Relationship Id="rId18" Type="http://schemas.openxmlformats.org/officeDocument/2006/relationships/slide" Target="slides/slide7.xml"/><Relationship Id="rId19" Type="http://schemas.openxmlformats.org/officeDocument/2006/relationships/slide" Target="slides/slide12.xml"/><Relationship Id="rId20" Type="http://schemas.openxmlformats.org/officeDocument/2006/relationships/slide" Target="slides/slide6.xml"/><Relationship Id="rId21" Type="http://schemas.openxmlformats.org/officeDocument/2006/relationships/slide" Target="slides/slide4.xml"/><Relationship Id="rId22" Type="http://schemas.openxmlformats.org/officeDocument/2006/relationships/slide" Target="slides/slide18.xml"/><Relationship Id="rId23" Type="http://schemas.openxmlformats.org/officeDocument/2006/relationships/slide" Target="slides/slide5.xml"/><Relationship Id="rId25" Type="http://schemas.openxmlformats.org/officeDocument/2006/relationships/slide" Target="slides/slide19.xml"/><Relationship Id="rId26" Type="http://schemas.openxmlformats.org/officeDocument/2006/relationships/slide" Target="slides/slide13.xml"/><Relationship Id="rId29" Type="http://schemas.openxmlformats.org/officeDocument/2006/relationships/slide" Target="slides/slide16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5.xml"/><Relationship Id="rId33" Type="http://schemas.openxmlformats.org/officeDocument/2006/relationships/slide" Target="slides/slide14.xml"/><Relationship Id="rId36" Type="http://schemas.openxmlformats.org/officeDocument/2006/relationships/slide" Target="slides/slide22.xml"/><Relationship Id="rId37" Type="http://schemas.openxmlformats.org/officeDocument/2006/relationships/font" Target="fonts/Urbanist-regular.fntdata"/><Relationship Id="rId38" Type="http://schemas.openxmlformats.org/officeDocument/2006/relationships/font" Target="fonts/Urbanist-bold.fntdata"/><Relationship Id="rId39" Type="http://schemas.openxmlformats.org/officeDocument/2006/relationships/font" Target="fonts/Urbanist-italic.fntdata"/><Relationship Id="rId40" Type="http://schemas.openxmlformats.org/officeDocument/2006/relationships/font" Target="fonts/Urbanist-boldItalic.fntdata"/><Relationship Id="rId41" Type="http://schemas.openxmlformats.org/officeDocument/2006/relationships/font" Target="fonts/ReadexProMedium-regular.fntdata"/><Relationship Id="rId42" Type="http://schemas.openxmlformats.org/officeDocument/2006/relationships/font" Target="fonts/ReadexProMedium-bold.fntdata"/><Relationship Id="rId43" Type="http://schemas.openxmlformats.org/officeDocument/2006/relationships/font" Target="fonts/ReadexProSemiBold-regular.fntdata"/><Relationship Id="rId44" Type="http://schemas.openxmlformats.org/officeDocument/2006/relationships/font" Target="fonts/ReadexProSemiBold-bold.fntdata"/><Relationship Id="rId45" Type="http://schemas.openxmlformats.org/officeDocument/2006/relationships/font" Target="fonts/ReadexPro-regular.fntdata"/><Relationship Id="rId46" Type="http://schemas.openxmlformats.org/officeDocument/2006/relationships/font" Target="fonts/ReadexPro-bold.fntdata"/><Relationship Id="rId47" Type="http://schemas.openxmlformats.org/officeDocument/2006/relationships/font" Target="fonts/ReadexProLight-regular.fntdata"/><Relationship Id="rId48" Type="http://schemas.openxmlformats.org/officeDocument/2006/relationships/font" Target="fonts/ReadexProLight-bold.fntdata"/><Relationship Id="rId49" Type="http://customschemas.google.com/relationships/presentationmetadata" Target="metadata"/><Relationship Id="rId50" Type="http://schemas.openxmlformats.org/officeDocument/2006/relationships/slide" Target="slides/slide8.xml"/><Relationship Id="rId51" Type="http://schemas.openxmlformats.org/officeDocument/2006/relationships/slide" Target="slides/slide9.xml"/><Relationship Id="rId52" Type="http://schemas.openxmlformats.org/officeDocument/2006/relationships/slide" Target="slides/slide17.xml"/><Relationship Id="rId53" Type="http://schemas.openxmlformats.org/officeDocument/2006/relationships/slide" Target="slides/slide21.xml"/><Relationship Id="rId54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5" name="Google Shape;49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96" name="Google Shape;49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67" name="Google Shape;567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68" name="Google Shape;568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3" name="Google Shape;583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84" name="Google Shape;584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23" name="Google Shape;623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624" name="Google Shape;624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707" name="Google Shape;7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9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hyperlink" Target="https://afaq-web.onrender.com" TargetMode="Externa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hyperlink" Target="https://github.com/falfahad-source/-" TargetMode="External"/><Relationship Id="rId6" Type="http://schemas.openxmlformats.org/officeDocument/2006/relationships/hyperlink" Target="https://github.com/falfahad-source/-/raw/claude/wonderful-cray-b4kxv3/deliverables/afaq-video-voiceover.mp4" TargetMode="External"/><Relationship Id="rId7" Type="http://schemas.openxmlformats.org/officeDocument/2006/relationships/hyperlink" Target="https://github.com/falfahad-source/-/raw/claude/wonderful-cray-b4kxv3/deliverables/afaq-documentation.pdf" TargetMode="External"/><Relationship Id="rId8" Type="http://schemas.openxmlformats.org/officeDocument/2006/relationships/hyperlink" Target="https://github.com/falfahad-source/-/raw/claude/wonderful-cray-b4kxv3/deliverables/afaq-presentation.pdf" TargetMode="External"/><Relationship Id="rId9" Type="http://schemas.openxmlformats.org/officeDocument/2006/relationships/hyperlink" Target="https://github.com/falfahad-source/-/tree/claude/wonderful-cray-b4kxv3/deliverable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آفاق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حين يلتقي التفسير بالمعرفة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استكشاف الآية بمصدر واضح لكل معلومة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مشروع آفاق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٦ أكتوبر ٢٠٢٦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8" name="Google Shape;49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آفاق</a:t>
            </a:r>
            <a:endParaRPr/>
          </a:p>
        </p:txBody>
      </p:sp>
      <p:sp>
        <p:nvSpPr>
          <p:cNvPr id="501" name="Google Shape;501;p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محتويات العرض</a:t>
            </a:r>
            <a:endParaRPr/>
          </a:p>
        </p:txBody>
      </p:sp>
      <p:sp>
        <p:nvSpPr>
          <p:cNvPr id="502" name="Google Shape;502;p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03" name="Google Shape;503;p9"/>
          <p:cNvSpPr txBox="1"/>
          <p:nvPr>
            <p:ph idx="2" type="body"/>
          </p:nvPr>
        </p:nvSpPr>
        <p:spPr>
          <a:xfrm>
            <a:off x="12077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504" name="Google Shape;504;p9"/>
          <p:cNvSpPr txBox="1"/>
          <p:nvPr>
            <p:ph idx="3" type="body"/>
          </p:nvPr>
        </p:nvSpPr>
        <p:spPr>
          <a:xfrm>
            <a:off x="12077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05" name="Google Shape;505;p9"/>
          <p:cNvSpPr txBox="1"/>
          <p:nvPr>
            <p:ph idx="4" type="body"/>
          </p:nvPr>
        </p:nvSpPr>
        <p:spPr>
          <a:xfrm>
            <a:off x="12077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لماذا نحتاج آفاق</a:t>
            </a:r>
            <a:endParaRPr/>
          </a:p>
        </p:txBody>
      </p:sp>
      <p:sp>
        <p:nvSpPr>
          <p:cNvPr id="506" name="Google Shape;506;p9"/>
          <p:cNvSpPr txBox="1"/>
          <p:nvPr>
            <p:ph idx="5" type="body"/>
          </p:nvPr>
        </p:nvSpPr>
        <p:spPr>
          <a:xfrm>
            <a:off x="6743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507" name="Google Shape;507;p9"/>
          <p:cNvSpPr txBox="1"/>
          <p:nvPr>
            <p:ph idx="6" type="body"/>
          </p:nvPr>
        </p:nvSpPr>
        <p:spPr>
          <a:xfrm>
            <a:off x="6743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508" name="Google Shape;508;p9"/>
          <p:cNvSpPr txBox="1"/>
          <p:nvPr>
            <p:ph idx="7" type="body"/>
          </p:nvPr>
        </p:nvSpPr>
        <p:spPr>
          <a:xfrm>
            <a:off x="6743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رحلة الآية بطبقاتها الخمس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09" name="Google Shape;509;p9"/>
          <p:cNvSpPr txBox="1"/>
          <p:nvPr>
            <p:ph idx="8" type="body"/>
          </p:nvPr>
        </p:nvSpPr>
        <p:spPr>
          <a:xfrm>
            <a:off x="1409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510" name="Google Shape;510;p9"/>
          <p:cNvSpPr txBox="1"/>
          <p:nvPr>
            <p:ph idx="9" type="body"/>
          </p:nvPr>
        </p:nvSpPr>
        <p:spPr>
          <a:xfrm>
            <a:off x="1409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11" name="Google Shape;511;p9"/>
          <p:cNvSpPr txBox="1"/>
          <p:nvPr>
            <p:ph idx="13" type="body"/>
          </p:nvPr>
        </p:nvSpPr>
        <p:spPr>
          <a:xfrm>
            <a:off x="1409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المصحف والبحث والطبقات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2" name="Google Shape;512;p9"/>
          <p:cNvSpPr txBox="1"/>
          <p:nvPr>
            <p:ph idx="14" type="body"/>
          </p:nvPr>
        </p:nvSpPr>
        <p:spPr>
          <a:xfrm>
            <a:off x="12077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513" name="Google Shape;513;p9"/>
          <p:cNvSpPr txBox="1"/>
          <p:nvPr>
            <p:ph idx="15" type="body"/>
          </p:nvPr>
        </p:nvSpPr>
        <p:spPr>
          <a:xfrm>
            <a:off x="12077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الثقة</a:t>
            </a:r>
            <a:endParaRPr/>
          </a:p>
        </p:txBody>
      </p:sp>
      <p:sp>
        <p:nvSpPr>
          <p:cNvPr id="514" name="Google Shape;514;p9"/>
          <p:cNvSpPr txBox="1"/>
          <p:nvPr>
            <p:ph idx="16" type="body"/>
          </p:nvPr>
        </p:nvSpPr>
        <p:spPr>
          <a:xfrm>
            <a:off x="12077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فئات الثقة والذكاء الاصطناعي المسؤول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5" name="Google Shape;515;p9"/>
          <p:cNvSpPr txBox="1"/>
          <p:nvPr>
            <p:ph idx="17" type="body"/>
          </p:nvPr>
        </p:nvSpPr>
        <p:spPr>
          <a:xfrm>
            <a:off x="6743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516" name="Google Shape;516;p9"/>
          <p:cNvSpPr txBox="1"/>
          <p:nvPr>
            <p:ph idx="18" type="body"/>
          </p:nvPr>
        </p:nvSpPr>
        <p:spPr>
          <a:xfrm>
            <a:off x="6743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التقنية</a:t>
            </a:r>
            <a:endParaRPr/>
          </a:p>
        </p:txBody>
      </p:sp>
      <p:sp>
        <p:nvSpPr>
          <p:cNvPr id="517" name="Google Shape;517;p9"/>
          <p:cNvSpPr txBox="1"/>
          <p:nvPr>
            <p:ph idx="19" type="body"/>
          </p:nvPr>
        </p:nvSpPr>
        <p:spPr>
          <a:xfrm>
            <a:off x="6743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من المصادر الرسمية إلى الشاشة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8" name="Google Shape;518;p9"/>
          <p:cNvSpPr txBox="1"/>
          <p:nvPr>
            <p:ph idx="20" type="body"/>
          </p:nvPr>
        </p:nvSpPr>
        <p:spPr>
          <a:xfrm>
            <a:off x="1409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06</a:t>
            </a:r>
            <a:endParaRPr/>
          </a:p>
        </p:txBody>
      </p:sp>
      <p:sp>
        <p:nvSpPr>
          <p:cNvPr id="519" name="Google Shape;519;p9"/>
          <p:cNvSpPr txBox="1"/>
          <p:nvPr>
            <p:ph idx="21" type="body"/>
          </p:nvPr>
        </p:nvSpPr>
        <p:spPr>
          <a:xfrm>
            <a:off x="1409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التنفيذ</a:t>
            </a:r>
            <a:endParaRPr/>
          </a:p>
        </p:txBody>
      </p:sp>
      <p:sp>
        <p:nvSpPr>
          <p:cNvPr id="520" name="Google Shape;520;p9"/>
          <p:cNvSpPr txBox="1"/>
          <p:nvPr>
            <p:ph idx="22" type="body"/>
          </p:nvPr>
        </p:nvSpPr>
        <p:spPr>
          <a:xfrm>
            <a:off x="1409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الخطة وحزمة التسليم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المشكلة — المعرفة موجودة... لكنها متفرقة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يريد دراسة العلاقة بين آية قرآنية وظاهرة علمية يجد نفسه مضطرًا للتنقل بين عالمَين متباعدَين: النص الشرعي وأدواته التفسيرية من جهة، والأبحاث العلمية الحديثة من جهة أخرى. المشكلة ليست نقص المحتوى — بل تشتته.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تشتت المصادر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المعلومة موزعة بين كتب تفسير، ومواقع إلكترونية، وأبحاث أكاديمية متخصصة يصعب الجمع بينها.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المستخدم التفريق بين التفسير المعتبر والاستنتاج الشخصي والادعاء العلمي.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الفجوة الزمنية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توجد تجربة متكاملة توضح كيف فُهمت الآية تاريخيًا، وكيف تطورت المعرفة المرتبطة بها.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مخاطر الذكاء الاصطناعي العام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يخلط بين النص الشرعي والتفسير والرأي والمعلومة العلمية في إجابة واحدة.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سؤال المشكلة"/>
          <p:cNvSpPr/>
          <p:nvPr/>
        </p:nvSpPr>
        <p:spPr>
          <a:xfrm>
            <a:off x="1719072" y="8613648"/>
            <a:ext cx="15435072" cy="694944"/>
          </a:xfrm>
          <a:prstGeom prst="roundRect">
            <a:avLst>
              <a:gd name="adj" fmla="val 18000"/>
            </a:avLst>
          </a:prstGeom>
          <a:solidFill>
            <a:srgbClr val="615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320040" lIns="320040"/>
          <a:lstStyle/>
          <a:p>
            <a:pPr algn="r" rtl="1"/>
            <a:r>
              <a:rPr sz="2200" b="1" lang="ar-SA">
                <a:solidFill>
                  <a:srgbClr val="FFFFFF"/>
                </a:solidFill>
                <a:latin typeface="Readex Pro"/>
                <a:cs typeface="Readex Pro"/>
              </a:rPr>
              <a:t>كيف نجعل الذكاء الاصطناعي أداة للاستكشاف والتحقق، لا أداة لإنتاج تفسيرات غير منضبطة؟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F4FF"/>
        </a:solidFill>
      </p:bgPr>
    </p:bg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6" name="Google Shape;626;p16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1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28" name="Google Shape;628;p16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b="1" lang="ar-SA" sz="55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كيف يستكشف القارئ الآية ومعارفها،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b="1" lang="ar-SA" sz="55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ويعرف دائمًا نوع كل معلومة ومصدرها؟</a:t>
            </a:r>
            <a:endParaRPr/>
          </a:p>
        </p:txBody>
      </p:sp>
      <p:sp>
        <p:nvSpPr>
          <p:cNvPr id="629" name="Google Shape;629;p16"/>
          <p:cNvSpPr txBox="1"/>
          <p:nvPr>
            <p:ph idx="1" type="body"/>
          </p:nvPr>
        </p:nvSpPr>
        <p:spPr>
          <a:xfrm>
            <a:off x="4202375" y="6905625"/>
            <a:ext cx="10752000" cy="5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السؤال الذي تجيب عنه آفاق</a:t>
            </a:r>
            <a:endParaRPr/>
          </a:p>
        </p:txBody>
      </p:sp>
      <p:sp>
        <p:nvSpPr>
          <p:cNvPr id="630" name="Google Shape;630;p16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rPr b="0" lang="ar-SA" sz="19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القاعدة: وجود تشابه مع ظاهرة علمية لا يجعله تفسيرًا للآية</a:t>
            </a:r>
            <a:endParaRPr/>
          </a:p>
        </p:txBody>
      </p:sp>
      <p:pic>
        <p:nvPicPr>
          <p:cNvPr id="631" name="Google Shape;631;p16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رحلة الآية: خمس طبقات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يختار المستخدم آية، فتنفتح طبقاتها بالترتيب، وكل طبقة بمصدرها وفئة ثقتها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التحليل اللغوي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الصرف والغريب والإعراب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Quranic Arabic Corpus وكتب الغريب والإعراب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التفسير عبر العصور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بسنة وفاة المفسّر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٩ تفاسير أساسية من الطبري إلى المعاصرين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المفاهيم والظواهر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ألفاظ الآية وموضوعاتها والمفاهيم القابلة للمقارنة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المعرفة العلمية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اقتباس حرفي من المصدر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NASA وNOAA وUSGS وMedlinePlus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باحث محايد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يزن الأدلة، ولا يكتب تفسيرًا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 اليوم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المصحف كاملًا، ومعرفة موثقة حوله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تحتويه المنصة عند التسليم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٦٢٣٦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آية في ١١٤ سورة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مصحف مجمع الملك فهد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٤٣٬٦٠٠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مدخل تفسير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٩ تفاسير أساسية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٥٦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علمية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طوبقت حرفيًا مع مصادرها، في ٤٣ آية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١٧٣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اختبارًا آليًا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ناجحًا عند التشغيل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قاعدة بيانات آفاق ونتيجة تشغيل الاختبارات، أكتوبر ٢٠٢٦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74" name="Google Shape;574;p13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الصفحة الرئيسية: ابحث، أو ابدأ بآية اليوم</a:t>
            </a:r>
            <a:endParaRPr/>
          </a:p>
        </p:txBody>
      </p:sp>
      <p:sp>
        <p:nvSpPr>
          <p:cNvPr id="575" name="Google Shape;575;p1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76" name="Google Shape;576;p13" descr="home_full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b="21437"/>
          <a:stretch>
            <a:fillRect/>
          </a:stretch>
        </p:blipFill>
        <p:spPr>
          <a:xfrm>
            <a:off x="1428750" y="4048125"/>
            <a:ext cx="8382000" cy="4714800"/>
          </a:xfrm>
        </p:spPr>
      </p:pic>
      <p:sp>
        <p:nvSpPr>
          <p:cNvPr id="577" name="Google Shape;577;p13"/>
          <p:cNvSpPr txBox="1"/>
          <p:nvPr>
            <p:ph idx="3" type="body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 واحدة</a:t>
            </a:r>
            <a:endParaRPr/>
          </a:p>
        </p:txBody>
      </p:sp>
      <p:sp>
        <p:nvSpPr>
          <p:cNvPr id="578" name="Google Shape;578;p13"/>
          <p:cNvSpPr txBox="1"/>
          <p:nvPr>
            <p:ph idx="4" type="body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مربع بحث لجزء من الآية أو لموضوع، وآية يومية من الآيات الموثقة علميًا بخط المصحف.</a:t>
            </a:r>
            <a:endParaRPr/>
          </a:p>
        </p:txBody>
      </p:sp>
      <p:sp>
        <p:nvSpPr>
          <p:cNvPr id="579" name="Google Shape;579;p13"/>
          <p:cNvSpPr txBox="1"/>
          <p:nvPr>
            <p:ph idx="5" type="body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أربعة أقسام</a:t>
            </a:r>
            <a:endParaRPr/>
          </a:p>
        </p:txBody>
      </p:sp>
      <p:sp>
        <p:nvSpPr>
          <p:cNvPr id="580" name="Google Shape;580;p13"/>
          <p:cNvSpPr txBox="1"/>
          <p:nvPr>
            <p:ph idx="6" type="body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جديد، وسجل البحث، والقرآن الكريم، والذكاء الاصطناعي في الإعجاز العلمي.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74" name="Google Shape;574;p13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تصفّح المصحف كاملًا صفحةً صفحة</a:t>
            </a:r>
            <a:endParaRPr/>
          </a:p>
        </p:txBody>
      </p:sp>
      <p:sp>
        <p:nvSpPr>
          <p:cNvPr id="575" name="Google Shape;575;p1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76" name="Google Shape;576;p13" descr="quranpanel.png"/>
          <p:cNvPicPr>
            <a:picLocks noGrp="1" noChangeAspect="1"/>
          </p:cNvPicPr>
          <p:nvPr>
            <p:ph idx="2" type="pic"/>
          </p:nvPr>
        </p:nvPicPr>
        <p:blipFill>
          <a:blip r:embed="rId2"/>
          <a:srcRect t="10001"/>
          <a:stretch>
            <a:fillRect/>
          </a:stretch>
        </p:blipFill>
        <p:spPr>
          <a:xfrm>
            <a:off x="1428750" y="4048125"/>
            <a:ext cx="8382000" cy="4714800"/>
          </a:xfrm>
        </p:spPr>
      </p:pic>
      <p:sp>
        <p:nvSpPr>
          <p:cNvPr id="577" name="Google Shape;577;p13"/>
          <p:cNvSpPr txBox="1"/>
          <p:nvPr>
            <p:ph idx="3" type="body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٦٠٤ صفحات</a:t>
            </a:r>
            <a:endParaRPr/>
          </a:p>
        </p:txBody>
      </p:sp>
      <p:sp>
        <p:nvSpPr>
          <p:cNvPr id="578" name="Google Shape;578;p13"/>
          <p:cNvSpPr txBox="1"/>
          <p:nvPr>
            <p:ph idx="4" type="body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مصحف المدينة النبوية، مع فهرس السور والأجزاء.</a:t>
            </a:r>
            <a:endParaRPr/>
          </a:p>
        </p:txBody>
      </p:sp>
      <p:sp>
        <p:nvSpPr>
          <p:cNvPr id="579" name="Google Shape;579;p13"/>
          <p:cNvSpPr txBox="1"/>
          <p:nvPr>
            <p:ph idx="5" type="body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الآية إلى معرفتها</a:t>
            </a:r>
            <a:endParaRPr/>
          </a:p>
        </p:txBody>
      </p:sp>
      <p:sp>
        <p:nvSpPr>
          <p:cNvPr id="580" name="Google Shape;580;p13"/>
          <p:cNvSpPr txBox="1"/>
          <p:nvPr>
            <p:ph idx="6" type="body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الضغط على أي آية يفتح تفسيرها والمعرفة العلمية المتصلة بها.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74" name="Google Shape;574;p13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البحث بجزء من الآية أو بالموضوع</a:t>
            </a:r>
            <a:endParaRPr/>
          </a:p>
        </p:txBody>
      </p:sp>
      <p:sp>
        <p:nvSpPr>
          <p:cNvPr id="575" name="Google Shape;575;p1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76" name="Google Shape;576;p13" descr="search.png"/>
          <p:cNvPicPr>
            <a:picLocks noGrp="1" noChangeAspect="1"/>
          </p:cNvPicPr>
          <p:nvPr>
            <p:ph idx="2" type="pic"/>
          </p:nvPr>
        </p:nvPicPr>
        <p:blipFill>
          <a:blip r:embed="rId2"/>
          <a:srcRect b="10001"/>
          <a:stretch>
            <a:fillRect/>
          </a:stretch>
        </p:blipFill>
        <p:spPr>
          <a:xfrm>
            <a:off x="1428750" y="4048125"/>
            <a:ext cx="8382000" cy="4714800"/>
          </a:xfrm>
        </p:spPr>
      </p:pic>
      <p:sp>
        <p:nvSpPr>
          <p:cNvPr id="577" name="Google Shape;577;p13"/>
          <p:cNvSpPr txBox="1"/>
          <p:nvPr>
            <p:ph idx="3" type="body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لا يتأثر بالتشكيل ولا بالرسم</a:t>
            </a:r>
            <a:endParaRPr/>
          </a:p>
        </p:txBody>
      </p:sp>
      <p:sp>
        <p:nvSpPr>
          <p:cNvPr id="578" name="Google Shape;578;p13"/>
          <p:cNvSpPr txBox="1"/>
          <p:nvPr>
            <p:ph idx="4" type="body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«الصلاة» و«الصلوة» و«ٱلصَّلَوٰةَ» تجد الآيات نفسها.</a:t>
            </a:r>
            <a:endParaRPr/>
          </a:p>
        </p:txBody>
      </p:sp>
      <p:sp>
        <p:nvSpPr>
          <p:cNvPr id="579" name="Google Shape;579;p13"/>
          <p:cNvSpPr txBox="1"/>
          <p:nvPr>
            <p:ph idx="5" type="body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نتيجة تذكر سببها</a:t>
            </a:r>
            <a:endParaRPr/>
          </a:p>
        </p:txBody>
      </p:sp>
      <p:sp>
        <p:nvSpPr>
          <p:cNvPr id="580" name="Google Shape;580;p13"/>
          <p:cNvSpPr txBox="1"/>
          <p:nvPr>
            <p:ph idx="6" type="body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موضوع في Quranpedia، أو مرادف، أو مقال، أو تفسير.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34" name="Google Shape;834;p25" descr="verse_top.png"/>
          <p:cNvPicPr>
            <a:picLocks noGrp="1" noChangeAspect="1"/>
          </p:cNvPicPr>
          <p:nvPr>
            <p:ph idx="2" type="pic"/>
          </p:nvPr>
        </p:nvPicPr>
        <p:blipFill>
          <a:blip r:embed="rId4"/>
          <a:srcRect b="31293"/>
          <a:stretch>
            <a:fillRect/>
          </a:stretch>
        </p:blipFill>
        <p:spPr>
          <a:xfrm>
            <a:off x="1047750" y="666750"/>
            <a:ext cx="16192500" cy="6953400"/>
          </a:xfrm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صفحة الآية: الآية أولًا، ثم طبقاتها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سورة النور، الآية ٤٠ — نص مصحف مجمع الملك فهد، وشريط الطبقات الخمس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الطبقات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اللغة والتفسير والمعرفة العلمية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46" name="Google Shape;846;p26" descr="el_language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b="44998"/>
          <a:stretch>
            <a:fillRect/>
          </a:stretch>
        </p:blipFill>
        <p:spPr>
          <a:xfrm>
            <a:off x="12077700" y="3714750"/>
            <a:ext cx="4762500" cy="4286400"/>
          </a:xfrm>
        </p:spPr>
      </p:pic>
      <p:sp>
        <p:nvSpPr>
          <p:cNvPr id="847" name="Google Shape;847;p26"/>
          <p:cNvSpPr txBox="1"/>
          <p:nvPr>
            <p:ph idx="3" type="body"/>
          </p:nvPr>
        </p:nvSpPr>
        <p:spPr>
          <a:xfrm>
            <a:off x="121158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التحليل اللغوي: الصرف والغريب والإعراب</a:t>
            </a:r>
            <a:endParaRPr/>
          </a:p>
        </p:txBody>
      </p:sp>
      <p:sp>
        <p:nvSpPr>
          <p:cNvPr id="848" name="Google Shape;848;p26"/>
          <p:cNvSpPr txBox="1"/>
          <p:nvPr>
            <p:ph idx="5" type="body"/>
          </p:nvPr>
        </p:nvSpPr>
        <p:spPr>
          <a:xfrm>
            <a:off x="676275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التفسير عبر العصور بسنة وفاة المفسّر</a:t>
            </a:r>
            <a:endParaRPr/>
          </a:p>
        </p:txBody>
      </p:sp>
      <p:sp>
        <p:nvSpPr>
          <p:cNvPr id="849" name="Google Shape;849;p26"/>
          <p:cNvSpPr txBox="1"/>
          <p:nvPr>
            <p:ph idx="7" type="body"/>
          </p:nvPr>
        </p:nvSpPr>
        <p:spPr>
          <a:xfrm>
            <a:off x="14097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معرفة علمية باقتباس حرفي من مصدرها</a:t>
            </a:r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1" name="Google Shape;851;p26" descr="el_tafsir.png"/>
          <p:cNvPicPr>
            <a:picLocks noGrp="1" noChangeAspect="1"/>
          </p:cNvPicPr>
          <p:nvPr>
            <p:ph idx="2" type="pic"/>
          </p:nvPr>
        </p:nvPicPr>
        <p:blipFill>
          <a:blip r:embed="rId6"/>
          <a:srcRect b="56813"/>
          <a:stretch>
            <a:fillRect/>
          </a:stretch>
        </p:blipFill>
        <p:spPr>
          <a:xfrm>
            <a:off x="6743700" y="3714675"/>
            <a:ext cx="4762500" cy="4286400"/>
          </a:xfrm>
        </p:spPr>
      </p:pic>
      <p:pic>
        <p:nvPicPr>
          <p:cNvPr id="852" name="Google Shape;852;p26" descr="el_science.png"/>
          <p:cNvPicPr>
            <a:picLocks noGrp="1" noChangeAspect="1"/>
          </p:cNvPicPr>
          <p:nvPr>
            <p:ph idx="2" type="pic"/>
          </p:nvPr>
        </p:nvPicPr>
        <p:blipFill>
          <a:blip r:embed="rId7"/>
          <a:srcRect t="18000" b="51409"/>
          <a:stretch>
            <a:fillRect/>
          </a:stretch>
        </p:blipFill>
        <p:spPr>
          <a:xfrm>
            <a:off x="1409700" y="3714750"/>
            <a:ext cx="4762500" cy="4286400"/>
          </a:xfr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6" name="Google Shape;58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7" name="Google Shape;587;p14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88" name="Google Shape;58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1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الطبقات</a:t>
            </a:r>
            <a:endParaRPr/>
          </a:p>
        </p:txBody>
      </p:sp>
      <p:sp>
        <p:nvSpPr>
          <p:cNvPr id="590" name="Google Shape;590;p1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خريطة المفاهيم</a:t>
            </a:r>
            <a:endParaRPr/>
          </a:p>
        </p:txBody>
      </p:sp>
      <p:sp>
        <p:nvSpPr>
          <p:cNvPr id="591" name="Google Shape;591;p1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92" name="Google Shape;592;p14" descr="el_concepts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t="9000" b="33472"/>
          <a:stretch>
            <a:fillRect/>
          </a:stretch>
        </p:blipFill>
        <p:spPr>
          <a:xfrm>
            <a:off x="2190750" y="2999025"/>
            <a:ext cx="5715000" cy="5715000"/>
          </a:xfrm>
        </p:spPr>
      </p:pic>
      <p:sp>
        <p:nvSpPr>
          <p:cNvPr id="593" name="Google Shape;593;p14"/>
          <p:cNvSpPr txBox="1"/>
          <p:nvPr>
            <p:ph idx="3" type="body"/>
          </p:nvPr>
        </p:nvSpPr>
        <p:spPr>
          <a:xfrm>
            <a:off x="9696450" y="3905250"/>
            <a:ext cx="71439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50"/>
              <a:buNone/>
            </a:pPr>
            <a:r>
              <a:rPr b="1" lang="ar-SA" sz="34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الآية في المركز، وحولها ألفاظها وموضوعاتها</a:t>
            </a:r>
            <a:endParaRPr/>
          </a:p>
        </p:txBody>
      </p:sp>
      <p:sp>
        <p:nvSpPr>
          <p:cNvPr id="594" name="Google Shape;594;p14"/>
          <p:cNvSpPr txBox="1"/>
          <p:nvPr>
            <p:ph idx="4" type="body"/>
          </p:nvPr>
        </p:nvSpPr>
        <p:spPr>
          <a:xfrm>
            <a:off x="9696450" y="5191125"/>
            <a:ext cx="7143900" cy="20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>
                <a:solidFill>
                  <a:srgbClr val="F2F4FF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ثم المفاهيم العلمية القابلة للمقارنة، متصلة بخط متقطع «ارتباط محتمل». لون إطار كل عقدة هو فئة ثقتها، والضغط على لفظ يعرض معناه عند أهل الغريب أولًا.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95" name="Google Shape;595;p14"/>
          <p:cNvSpPr txBox="1"/>
          <p:nvPr>
            <p:ph idx="5" type="body"/>
          </p:nvPr>
        </p:nvSpPr>
        <p:spPr>
          <a:xfrm>
            <a:off x="9696450" y="8048625"/>
            <a:ext cx="71439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rPr b="0" lang="ar-SA" sz="19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سورة النور، الآية ٤٠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15435072" cy="3401568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4279392"/>
                <a:gridCol w="4754880"/>
                <a:gridCol w="3657600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القاعدة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يُعرض معها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المعنى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الفئة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محفوظ حرفيًا، لا يُولَّد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مصدر النص: مجمع الملك فهد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النص الأصلي للآية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قرآني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يُنسب قول بلا 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الكتاب والمؤلف ورقم الصفحة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قول المفسّر مع 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تفسير موثّق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جهات علمية رسمية فقط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رابط واقتباس حرفي وتاريخ التحقق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معرفة من مرجع رسمي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حقيقة علمية مثبتة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التشابه لا يجعله تفسيرًا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«مسودة» حتى يعتمدها باحث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قراءة معاصرة، ليست تفسيرًا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ارتباط محتمل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يُعرض على أنه حقيقة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تنبيه صريح للقارئ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 يثبت بمصدر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ادعاء غير موثّق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الثقة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طبقة الثقة: نوع المعلومة قبل الاعتماد عليها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عنصر يُعرض بإحدى خمس فئات، ولا يُرفع إلى فئة أعلى بصمت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ذكاء اصطناعي مسؤول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باحث محايد يبدأ من سؤال لا من نتيجة، و«لا يوجد إعجاز مثبت» نتيجة مقبولة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يفعله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يساعد على البحث والاستخراج والتلخيص، ويزن الأدلة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لا يفعله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يكتب تفسيرًا مستقلًا، ولا يُصدر حكمًا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يفهم الآية من مصادر آفاق المخزنة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يبحث عن الظاهرة نفسها، ويجمع الأدلة المؤيدة والمعارضة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يحكم بسبعة مستويات، من «قوي جدًا» إلى «لا ادعاء»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لا ينسب لمفسّر قولًا ليس في المصادر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لا يعرض رابطًا علميًا لم يُعده بحث الويب فعلًا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تقريره «ادعاء غير موثّق» حتى يراجعه باحث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ضوابط تُفرض في الكود، لا في التعليمات فقط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يفحص آفاق كل تقرير قبل عرضه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القرآنية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تُقبل فقط من حزمة المصادر المرسلة</a:t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الروابط العلمية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يُحذف كل رابط لم يُعده بحث الويب</a:t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التقييم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«قوي» بلا مصدر متحقق يُخفَّض إلى «ممكن»</a:t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التكلفة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حد لكل قارئ في الساعة، وللموقع في اليوم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التقنية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 المصادر الرسمية إلى الشاشة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تسلسل العمل من المدخلات إلى المستخدم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مجمع الملك فهد وQuranpedia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وجهات علمية رسمية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الاستيراد والتحقق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استيراد يحترم التراخيص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ومطابقة الاقتباسات آليًا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الخادم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PostgreSQL وFastAPI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والباحث بالذكاء الاصطناعي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الواجهة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Next.js بواجهة عربية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تنتهي دائمًا بالمصدر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التجربة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عربية بسيطة، على الحاسوب والجوال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46" name="Google Shape;846;p26" descr="home_mobile.png"/>
          <p:cNvPicPr>
            <a:picLocks noGrp="1" noChangeAspect="1"/>
          </p:cNvPicPr>
          <p:nvPr>
            <p:ph idx="2" type="pic"/>
          </p:nvPr>
        </p:nvPicPr>
        <p:blipFill>
          <a:blip r:embed="rId2"/>
          <a:srcRect t="32000" b="26411"/>
          <a:stretch>
            <a:fillRect/>
          </a:stretch>
        </p:blipFill>
        <p:spPr>
          <a:xfrm>
            <a:off x="12077700" y="3714750"/>
            <a:ext cx="4762500" cy="4286400"/>
          </a:xfrm>
        </p:spPr>
      </p:pic>
      <p:sp>
        <p:nvSpPr>
          <p:cNvPr id="847" name="Google Shape;847;p26"/>
          <p:cNvSpPr txBox="1"/>
          <p:nvPr>
            <p:ph idx="3" type="body"/>
          </p:nvPr>
        </p:nvSpPr>
        <p:spPr>
          <a:xfrm>
            <a:off x="121158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الرئيسية وآية اليوم</a:t>
            </a:r>
            <a:endParaRPr/>
          </a:p>
        </p:txBody>
      </p:sp>
      <p:sp>
        <p:nvSpPr>
          <p:cNvPr id="848" name="Google Shape;848;p26"/>
          <p:cNvSpPr txBox="1"/>
          <p:nvPr>
            <p:ph idx="5" type="body"/>
          </p:nvPr>
        </p:nvSpPr>
        <p:spPr>
          <a:xfrm>
            <a:off x="676275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صفحة الآية: الآية أولًا</a:t>
            </a:r>
            <a:endParaRPr/>
          </a:p>
        </p:txBody>
      </p:sp>
      <p:sp>
        <p:nvSpPr>
          <p:cNvPr id="849" name="Google Shape;849;p26"/>
          <p:cNvSpPr txBox="1"/>
          <p:nvPr>
            <p:ph idx="7" type="body"/>
          </p:nvPr>
        </p:nvSpPr>
        <p:spPr>
          <a:xfrm>
            <a:off x="14097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المصحف على الجوال</a:t>
            </a:r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1" name="Google Shape;851;p26" descr="mobile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t="45000" b="13411"/>
          <a:stretch>
            <a:fillRect/>
          </a:stretch>
        </p:blipFill>
        <p:spPr>
          <a:xfrm>
            <a:off x="6743700" y="3714675"/>
            <a:ext cx="4762500" cy="4286400"/>
          </a:xfrm>
        </p:spPr>
      </p:pic>
      <p:pic>
        <p:nvPicPr>
          <p:cNvPr id="852" name="Google Shape;852;p26" descr="quran_mobile.png"/>
          <p:cNvPicPr>
            <a:picLocks noGrp="1" noChangeAspect="1"/>
          </p:cNvPicPr>
          <p:nvPr>
            <p:ph idx="2" type="pic"/>
          </p:nvPr>
        </p:nvPicPr>
        <p:blipFill>
          <a:blip r:embed="rId6"/>
          <a:srcRect t="12000" b="46411"/>
          <a:stretch>
            <a:fillRect/>
          </a:stretch>
        </p:blipFill>
        <p:spPr>
          <a:xfrm>
            <a:off x="1409700" y="3714750"/>
            <a:ext cx="4762500" cy="4286400"/>
          </a:xfr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التنفيذ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خطة التنفيذ: ثلاثة أيام، وتسليم واحد مكتمل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الأحد ٤ إلى الثلاثاء ٦ أكتوبر ٢٠٢٦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15435072" cy="2267712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1627632"/>
                <a:gridCol w="7589520"/>
                <a:gridCol w="3474720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المخرجات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المرحلة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اليوم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أُنجز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المصحف كاملًا، وقاعدة البيانات، واسترجاع موثّق، وسجل المصادر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المصحف والأساس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 ٤ أكتوبر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أُنجز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بالنص والموضوع، وخريطة المعرفة لـ ٤٣ آية، وطبقة الثقة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والتكامل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الاثنين ٥ أكتوبر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أُنجز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اختبار المصحف والذكاء الاصطناعي، والرابط المباشر، والمستودع والفيديو والتوثيق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الاختبار والنشر والتسليم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الثلاثاء ٦ أكتوبر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التسليم النهائي: الثلاثاء ٦ أكتوبر، بعد اكتمال جميع المتطلبات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التسليم</a:t>
            </a:r>
            <a:endParaRPr/>
          </a:p>
        </p:txBody>
      </p:sp>
      <p:sp>
        <p:nvSpPr>
          <p:cNvPr id="711" name="Google Shape;711;p20"/>
          <p:cNvSpPr txBox="1"/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حزمة التسليم</a:t>
            </a:r>
            <a:endParaRPr/>
          </a:p>
        </p:txBody>
      </p:sp>
      <p:sp>
        <p:nvSpPr>
          <p:cNvPr id="712" name="Google Shape;712;p20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المخرجات المسلّمة مع هذا العرض</a:t>
            </a:r>
            <a:endParaRPr/>
          </a:p>
        </p:txBody>
      </p:sp>
      <p:sp>
        <p:nvSpPr>
          <p:cNvPr id="713" name="Google Shape;713;p2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14" name="Google Shape;714;p20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رابط الحل</a:t>
            </a:r>
            <a:endParaRPr/>
          </a:p>
        </p:txBody>
      </p:sp>
      <p:sp>
        <p:nvSpPr>
          <p:cNvPr id="715" name="Google Shape;715;p20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رابط مباشر يعمل، ومتاح للتجربة</a:t>
            </a:r>
            <a:endParaRPr/>
          </a:p>
        </p:txBody>
      </p:sp>
      <p:sp>
        <p:nvSpPr>
          <p:cNvPr id="716" name="Google Shape;716;p20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المستودع البرمجي</a:t>
            </a:r>
            <a:endParaRPr/>
          </a:p>
        </p:txBody>
      </p:sp>
      <p:sp>
        <p:nvSpPr>
          <p:cNvPr id="717" name="Google Shape;717;p20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مستودع GitHub عام بالكود وملفات التشغيل</a:t>
            </a:r>
            <a:endParaRPr/>
          </a:p>
        </p:txBody>
      </p:sp>
      <p:sp>
        <p:nvSpPr>
          <p:cNvPr id="718" name="Google Shape;718;p20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الفيديو التوضيحي</a:t>
            </a:r>
            <a:endParaRPr/>
          </a:p>
        </p:txBody>
      </p:sp>
      <p:sp>
        <p:nvSpPr>
          <p:cNvPr id="719" name="Google Shape;719;p20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عرض عملي للمنصة في أقل من دقيقتين</a:t>
            </a:r>
            <a:endParaRPr/>
          </a:p>
        </p:txBody>
      </p:sp>
      <p:sp>
        <p:nvSpPr>
          <p:cNvPr id="720" name="Google Shape;720;p20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التوثيق</a:t>
            </a:r>
            <a:endParaRPr/>
          </a:p>
        </p:txBody>
      </p:sp>
      <p:sp>
        <p:nvSpPr>
          <p:cNvPr id="721" name="Google Shape;721;p20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الإعداد والتشغيل، والمصادر، والأدوات والتراخيص</a:t>
            </a:r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الاستدامة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خطة التشغيل والتمويل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مجاني للقارئ دائمًا، والتكلفة المتغيرة الوحيدة، الذكاء الاصطناعي، مضبوطة بحدود في الكود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15435072" cy="3401568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1810512"/>
                <a:gridCol w="4480560"/>
                <a:gridCol w="6035040"/>
                <a:gridCol w="3108960"/>
              </a:tblGrid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المرحلة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يناسب آفاق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الفكرة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الانطلاق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محتوى قرآني نفعه مستمر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وقف رقمي أو مساهمة من جهات وقفية تغطي التشغيل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الوقف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الانطلاق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يخدم هدف التحدي مباشرة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جهات خدمة القرآن ومبادرات الذكاء الاصطناعي الوطنية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المنح والدعم المؤسسي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طبقات الثقة قيمة يصعب بناؤها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مجاني للأفراد، وبرسوم للتطبيقات والمنصات التي تدمجه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ترخيص الواجهة البرمجية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الجامعات تحتاج مصادر موثقة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أدوات للمعلمين والباحثين، ومراجعة المقارنات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خدمات تعليمية وبحثية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يغطي التكلفة المتغيرة من مستخدميها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الاستكشاف مجاني، والتقارير المعمّقة باشتراك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تقارير بحثية متقدمة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خطة مقترحة لما بعد التحدي، وليست اتفاقيات قائمة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15435072" cy="3968496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5650992"/>
                <a:gridCol w="6675120"/>
                <a:gridCol w="3108960"/>
              </a:tblGrid>
              <a:tr h="566928">
                <a:tc>
                  <a:txBody>
                    <a:bodyPr/>
                    <a:lstStyle/>
                    <a:p>
                      <a:pPr indent="0" lvl="0" marL="0" marR="0" rt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الرابط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الوصف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2"/>
                        </a:rPr>
                        <a:t>afaq-web.onrender.com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المنصة للتجربة: المصحف، والبحث، ورحلة الآية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المباشر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5"/>
                        </a:rPr>
                        <a:t>github.com/falfahad-source/-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الكود كاملًا، وملفات التشغيل والنشر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المستودع البرمجي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6"/>
                        </a:rPr>
                        <a:t>afaq-video-voiceover.mp4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جولة في المنصة مع تعليق صوتي، أقل من دقيقتين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الفيديو التوضيحي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7"/>
                        </a:rPr>
                        <a:t>afaq-documentation.pdf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الإعداد والتشغيل، والمصادر، والأدوات والتراخيص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التوثيق الفني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8"/>
                        </a:rPr>
                        <a:t>afaq-presentation.pdf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هذا العرض بصيغتي PDF وPowerPoint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العرض التقديمي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9"/>
                        </a:rPr>
                        <a:t>deliverables/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ملفات التسليم في مكان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مجلد ملفات التسليم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الروابط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روابط المشروع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ما يلزم لتجربة المنصة ومراجعتها في مكان واحد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آفاق — حين يلتقي التفسير بالمعرفة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