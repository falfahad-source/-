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4" r:id="rId14"/>
    <p:sldId id="266" r:id="rId16"/>
    <p:sldId id="271" r:id="rId21"/>
    <p:sldId id="273" r:id="rId23"/>
    <p:sldId id="270" r:id="rId20"/>
    <p:sldId id="268" r:id="rId18"/>
    <p:sldId id="287" r:id="rId50"/>
    <p:sldId id="288" r:id="rId51"/>
    <p:sldId id="280" r:id="rId30"/>
    <p:sldId id="281" r:id="rId31"/>
    <p:sldId id="269" r:id="rId19"/>
    <p:sldId id="276" r:id="rId26"/>
    <p:sldId id="283" r:id="rId33"/>
    <p:sldId id="282" r:id="rId32"/>
    <p:sldId id="279" r:id="rId29"/>
    <p:sldId id="289" r:id="rId52"/>
    <p:sldId id="272" r:id="rId22"/>
    <p:sldId id="275" r:id="rId25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6" Type="http://schemas.openxmlformats.org/officeDocument/2006/relationships/slide" Target="slides/slide3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0" Type="http://schemas.openxmlformats.org/officeDocument/2006/relationships/slide" Target="slides/slide6.xml"/><Relationship Id="rId21" Type="http://schemas.openxmlformats.org/officeDocument/2006/relationships/slide" Target="slides/slide4.xml"/><Relationship Id="rId22" Type="http://schemas.openxmlformats.org/officeDocument/2006/relationships/slide" Target="slides/slide18.xml"/><Relationship Id="rId23" Type="http://schemas.openxmlformats.org/officeDocument/2006/relationships/slide" Target="slides/slide5.xml"/><Relationship Id="rId25" Type="http://schemas.openxmlformats.org/officeDocument/2006/relationships/slide" Target="slides/slide19.xml"/><Relationship Id="rId26" Type="http://schemas.openxmlformats.org/officeDocument/2006/relationships/slide" Target="slides/slide13.xml"/><Relationship Id="rId29" Type="http://schemas.openxmlformats.org/officeDocument/2006/relationships/slide" Target="slides/slide16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5.xml"/><Relationship Id="rId33" Type="http://schemas.openxmlformats.org/officeDocument/2006/relationships/slide" Target="slides/slide14.xml"/><Relationship Id="rId36" Type="http://schemas.openxmlformats.org/officeDocument/2006/relationships/slide" Target="slides/slide20.xml"/><Relationship Id="rId37" Type="http://schemas.openxmlformats.org/officeDocument/2006/relationships/font" Target="fonts/Urbanist-regular.fntdata"/><Relationship Id="rId38" Type="http://schemas.openxmlformats.org/officeDocument/2006/relationships/font" Target="fonts/Urbanist-bold.fntdata"/><Relationship Id="rId39" Type="http://schemas.openxmlformats.org/officeDocument/2006/relationships/font" Target="fonts/Urbanist-italic.fntdata"/><Relationship Id="rId40" Type="http://schemas.openxmlformats.org/officeDocument/2006/relationships/font" Target="fonts/Urbanist-boldItalic.fntdata"/><Relationship Id="rId41" Type="http://schemas.openxmlformats.org/officeDocument/2006/relationships/font" Target="fonts/ReadexProMedium-regular.fntdata"/><Relationship Id="rId42" Type="http://schemas.openxmlformats.org/officeDocument/2006/relationships/font" Target="fonts/ReadexProMedium-bold.fntdata"/><Relationship Id="rId43" Type="http://schemas.openxmlformats.org/officeDocument/2006/relationships/font" Target="fonts/ReadexProSemiBold-regular.fntdata"/><Relationship Id="rId44" Type="http://schemas.openxmlformats.org/officeDocument/2006/relationships/font" Target="fonts/ReadexProSemiBold-bold.fntdata"/><Relationship Id="rId45" Type="http://schemas.openxmlformats.org/officeDocument/2006/relationships/font" Target="fonts/ReadexPro-regular.fntdata"/><Relationship Id="rId46" Type="http://schemas.openxmlformats.org/officeDocument/2006/relationships/font" Target="fonts/ReadexPro-bold.fntdata"/><Relationship Id="rId47" Type="http://schemas.openxmlformats.org/officeDocument/2006/relationships/font" Target="fonts/ReadexProLight-regular.fntdata"/><Relationship Id="rId48" Type="http://schemas.openxmlformats.org/officeDocument/2006/relationships/font" Target="fonts/ReadexProLight-bold.fntdata"/><Relationship Id="rId49" Type="http://customschemas.google.com/relationships/presentationmetadata" Target="metadata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68" name="Google Shape;56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3" name="Google Shape;58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84" name="Google Shape;58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24" name="Google Shape;62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9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حين يلتقي التفسير بالمعرفة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استكشاف الآية بمصدر واضح لكل معلومة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مشروع آفاق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٦ أكتوبر ٢٠٢٦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لماذا نحتاج آفاق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رحلة الآية بطبقاتها الخمس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المصحف والبحث والطبقات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فئات الثقة والذكاء الاصطناعي المسؤول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من المصادر الرسمية إلى الشاشة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الخطة وحزمة التسليم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محتوى «الإعجاز العلمي» يخلط بين ما لا يجوز خلطه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القارئ لا يعرف نوع المعلومة ولا مصدرها قبل أن يعتمد عليها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النص والتفسير والعلم في سطر واحد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يعرف القارئ أين ينتهي النص، ويبدأ قول المفسّر، ثم رأي الكاتب.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ادعاءات علمية بلا مصدر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معلومات تُنقل من مقال إلى مقال دون رجوع إلى جهة علمية.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التشابه يُقدَّم على أنه تفسير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فإذا تغيّرت النظرية العلمية بدا النص كأنه تغيّر معها.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 يزيد الخطر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النماذج اللغوية قد تختلق أقوالًا ومراجع بثقة تامة.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4F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28" name="Google Shape;628;p16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يستكشف القارئ الآية ومعارفها،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ويعرف دائمًا نوع كل معلومة ومصدرها؟</a:t>
            </a:r>
            <a:endParaRPr/>
          </a:p>
        </p:txBody>
      </p:sp>
      <p:sp>
        <p:nvSpPr>
          <p:cNvPr id="629" name="Google Shape;629;p16"/>
          <p:cNvSpPr txBox="1"/>
          <p:nvPr>
            <p:ph idx="1" type="body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السؤال الذي تجيب عنه آفاق</a:t>
            </a:r>
            <a:endParaRPr/>
          </a:p>
        </p:txBody>
      </p:sp>
      <p:sp>
        <p:nvSpPr>
          <p:cNvPr id="630" name="Google Shape;630;p16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القاعدة: وجود تشابه مع ظاهرة علمية لا يجعله تفسيرًا للآية</a:t>
            </a:r>
            <a:endParaRPr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الآية: خمس طبقات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يختار المستخدم آية، فتنفتح طبقاتها بالترتيب، وكل طبقة بمصدرها وفئة ثقتها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الصرف والغريب والإعراب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Quranic Arabic Corpus وكتب الغريب والإعراب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بسنة وفاة المفسّر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٩ تفاسير أساسية من الطبري إلى المعاصرين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المفاهيم والظواهر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ألفاظ الآية وموضوعاتها والمفاهيم القابلة للمقارنة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المعرفة العلمية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اقتباس حرفي من المصدر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NASA وNOAA وUSGS وMedlinePlus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يزن الأدلة، ولا يكتب تفسيرًا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المصحف كاملًا، ومعرفة موثقة حوله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تحتويه المنصة عند التسليم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٦٢٣٦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آية في ١١٤ سورة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مصحف مجمع الملك فهد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٤٣٬٦٠٠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مدخل تفسير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٩ تفاسير أساسية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٥٦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علمية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طوبقت حرفيًا مع مصادرها، في ٤٣ آية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١٧٣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اختبارًا آليًا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ناجحًا عند التشغيل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قاعدة بيانات آفاق ونتيجة تشغيل الاختبارات، أكتوبر ٢٠٢٦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الصفحة الرئيسية: ابحث، أو ابدأ بآية اليوم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home_full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21437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 واحدة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مربع بحث لجزء من الآية أو لموضوع، وآية يومية من الآيات الموثقة علميًا بخط المصحف.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أربعة أقسام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جديد، وسجل البحث، والقرآن الكريم، والذكاء الاصطناعي في الإعجاز العلمي.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تصفّح المصحف كاملًا صفحةً صفحة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quranpanel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٦٠٤ صفحات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مصحف المدينة النبوية، مع فهرس السور والأجزاء.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الآية إلى معرفتها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الضغط على أي آية يفتح تفسيرها والمعرفة العلمية المتصلة بها.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البحث بجزء من الآية أو بالموضوع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search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b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يتأثر بالتشكيل ولا بالرسم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«الصلاة» و«الصلوة» و«ٱلصَّلَوٰةَ» تجد الآيات نفسها.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نتيجة تذكر سببها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موضوع في Quranpedia، أو مرادف، أو مقال، أو تفسير.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34" name="Google Shape;834;p25" descr="verse_top.png"/>
          <p:cNvPicPr>
            <a:picLocks noGrp="1" noChangeAspect="1"/>
          </p:cNvPicPr>
          <p:nvPr>
            <p:ph idx="2" type="pic"/>
          </p:nvPr>
        </p:nvPicPr>
        <p:blipFill>
          <a:blip r:embed="rId4"/>
          <a:srcRect b="31293"/>
          <a:stretch>
            <a:fillRect/>
          </a:stretch>
        </p:blipFill>
        <p:spPr>
          <a:xfrm>
            <a:off x="1047750" y="666750"/>
            <a:ext cx="16192500" cy="6953400"/>
          </a:xfrm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أولًا، ثم طبقاتها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 — نص مصحف مجمع الملك فهد، وشريط الطبقات الخمس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والتفسير والمعرفة العلمية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el_languag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44998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اللغوي: الصرف والغريب والإعراب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 بسنة وفاة المفسّر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معرفة علمية باقتباس حرفي من مصدرها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el_tafsir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b="56813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el_science.png"/>
          <p:cNvPicPr>
            <a:picLocks noGrp="1" noChangeAspect="1"/>
          </p:cNvPicPr>
          <p:nvPr>
            <p:ph idx="2" type="pic"/>
          </p:nvPr>
        </p:nvPicPr>
        <p:blipFill>
          <a:blip r:embed="rId7"/>
          <a:srcRect t="18000" b="51409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6" name="Google Shape;58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14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88" name="Google Shape;58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1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590" name="Google Shape;590;p1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خريطة المفاهيم</a:t>
            </a:r>
            <a:endParaRPr/>
          </a:p>
        </p:txBody>
      </p:sp>
      <p:sp>
        <p:nvSpPr>
          <p:cNvPr id="591" name="Google Shape;591;p1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92" name="Google Shape;592;p14" descr="el_concepts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9000" b="33472"/>
          <a:stretch>
            <a:fillRect/>
          </a:stretch>
        </p:blipFill>
        <p:spPr>
          <a:xfrm>
            <a:off x="2190750" y="2999025"/>
            <a:ext cx="5715000" cy="5715000"/>
          </a:xfrm>
        </p:spPr>
      </p:pic>
      <p:sp>
        <p:nvSpPr>
          <p:cNvPr id="593" name="Google Shape;593;p14"/>
          <p:cNvSpPr txBox="1"/>
          <p:nvPr>
            <p:ph idx="3" type="body"/>
          </p:nvPr>
        </p:nvSpPr>
        <p:spPr>
          <a:xfrm>
            <a:off x="9696450" y="3905250"/>
            <a:ext cx="71439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50"/>
              <a:buNone/>
            </a:pPr>
            <a:r>
              <a:rPr b="1" lang="ar-SA" sz="34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الآية في المركز، وحولها ألفاظها وموضوعاتها</a:t>
            </a:r>
            <a:endParaRPr/>
          </a:p>
        </p:txBody>
      </p:sp>
      <p:sp>
        <p:nvSpPr>
          <p:cNvPr id="594" name="Google Shape;594;p14"/>
          <p:cNvSpPr txBox="1"/>
          <p:nvPr>
            <p:ph idx="4" type="body"/>
          </p:nvPr>
        </p:nvSpPr>
        <p:spPr>
          <a:xfrm>
            <a:off x="9696450" y="5191125"/>
            <a:ext cx="7143900" cy="20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>
                <a:solidFill>
                  <a:srgbClr val="F2F4FF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ثم المفاهيم العلمية القابلة للمقارنة، متصلة بخط متقطع «ارتباط محتمل». لون إطار كل عقدة هو فئة ثقتها، والضغط على لفظ يعرض معناه عند أهل الغريب أولًا.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95" name="Google Shape;595;p14"/>
          <p:cNvSpPr txBox="1"/>
          <p:nvPr>
            <p:ph idx="5" type="body"/>
          </p:nvPr>
        </p:nvSpPr>
        <p:spPr>
          <a:xfrm>
            <a:off x="9696450" y="8048625"/>
            <a:ext cx="7143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الفئة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المعنى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يُعرض معها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القاعدة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قرآني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النص الأصلي للآية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مصدر النص: مجمع الملك فهد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محفوظ حرفيًا، لا يُولَّد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تفسير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المفسّر مع 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الكتاب والمؤلف ورقم الصفحة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يُنسب قول بلا 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حقيقة علمية مثبتة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معرفة من مرجع رسمي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رابط واقتباس حرفي وتاريخ التحقق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جهات علمية رسمية فقط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ارتباط محتمل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قراءة معاصرة، ليست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«مسودة» حتى يعتمدها باحث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التشابه لا يجعله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ادعاء غير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 يثبت بمصدر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تنبيه صريح للقارئ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يُعرض على أنه حقيقة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طبقة الثقة: نوع المعلومة قبل الاعتماد عليها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عنصر يُعرض بإحدى خمس فئات، ولا يُرفع إلى فئة أعلى بصمت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ذكاء اصطناعي مسؤول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 يبدأ من سؤال لا من نتيجة، و«لا يوجد إعجاز مثبت» نتيجة مقبولة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يساعد على البحث والاستخراج والتلخيص، ويزن الأدلة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لا يفعله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يكتب تفسيرًا مستقلًا، ولا يُصدر حكمًا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يفهم الآية من مصادر آفاق المخزنة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يبحث عن الظاهرة نفسها، ويجمع الأدلة المؤيدة والمعارضة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يحكم بسبعة مستويات، من «قوي جدًا» إلى «لا ادعاء»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ينسب لمفسّر قولًا ليس في المصادر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يعرض رابطًا علميًا لم يُعده بحث الويب فعلًا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تقريره «ادعاء غير موثّق» حتى يراجعه باحث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ضوابط تُفرض في الكود، لا في التعليمات فقط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يفحص آفاق كل تقرير قبل عرضه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القرآنية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تُقبل فقط من حزمة المصادر المرسلة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الروابط العلمية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يُحذف كل رابط لم يُعده بحث الويب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التقييم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«قوي» بلا مصدر متحقق يُخفَّض إلى «ممكن»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التكلفة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 لكل قارئ في الساعة، وللموقع في اليوم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المصادر الرسمية إلى الشاشة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تسلسل العمل من المدخلات إلى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مجمع الملك فهد وQuranpedia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وجهات علمية رسمية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الاستيراد والتحقق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استيراد يحترم التراخيص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ومطابقة الاقتباسات آليًا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الخادم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PostgreSQL وFastAPI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والباحث بالذكاء الاصطناعي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الواجهة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Next.js بواجهة عربية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تنتهي دائمًا بالمصدر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التجربة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عربية بسيطة، على الحاسوب والجوال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home_mobile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32000" b="26411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الرئيسية وآية اليوم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المصحف على الجوال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mobil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45000" b="13411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quran_mobile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t="12000" b="46411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التنفيذ: ثلاثة أيام، وتسليم واحد مكتمل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الأحد ٤ إلى الثلاثاء ٦ أكتوبر ٢٠٢٦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اليوم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المخرجات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 ٤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والأساس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كاملًا، وقاعدة البيانات، واسترجاع موثّق، وسجل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الاثنين ٥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والتكامل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بالنص والموضوع، وخريطة المعرفة لـ ٤٣ آية، وطبقة الثقة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الثلاثاء ٦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الاختبار والنشر والتسليم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اختبار المصحف والذكاء الاصطناعي، والرابط المباشر، والمستودع والفيديو والتوثيق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التسليم النهائي: الثلاثاء ٦ أكتوبر، بعد اكتمال جميع المتطلبات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التسليم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حزمة التسليم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 المسلّمة مع هذا العرض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رابط الحل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رابط مباشر يعمل، ومتاح للتجربة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المستودع البرمجي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مستودع GitHub عام بالكود وملفات التشغيل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الفيديو التوضيحي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عرض عملي للمنصة في أقل من دقيقتين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التوثيق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الإعداد والتشغيل، والمصادر، والأدوات والتراخيص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 — حين يلتقي التفسير بالمعرفة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‎github.com/falfahad-source/-‎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