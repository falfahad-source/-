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63" r:id="rId13"/>
    <p:sldId id="264" r:id="rId14"/>
    <p:sldId id="266" r:id="rId16"/>
    <p:sldId id="271" r:id="rId21"/>
    <p:sldId id="273" r:id="rId23"/>
    <p:sldId id="270" r:id="rId20"/>
    <p:sldId id="268" r:id="rId18"/>
    <p:sldId id="287" r:id="rId50"/>
    <p:sldId id="288" r:id="rId51"/>
    <p:sldId id="280" r:id="rId30"/>
    <p:sldId id="281" r:id="rId31"/>
    <p:sldId id="269" r:id="rId19"/>
    <p:sldId id="276" r:id="rId26"/>
    <p:sldId id="283" r:id="rId33"/>
    <p:sldId id="282" r:id="rId32"/>
    <p:sldId id="279" r:id="rId29"/>
    <p:sldId id="289" r:id="rId52"/>
    <p:sldId id="272" r:id="rId22"/>
    <p:sldId id="275" r:id="rId25"/>
    <p:sldId id="291" r:id="rId54"/>
    <p:sldId id="290" r:id="rId53"/>
    <p:sldId id="286" r:id="rId36"/>
  </p:sldIdLst>
  <p:sldSz cy="10287000" cx="18288000"/>
  <p:notesSz cx="6858000" cy="9144000"/>
  <p:embeddedFontLst>
    <p:embeddedFont>
      <p:font typeface="Urbanist"/>
      <p:regular r:id="rId37"/>
      <p:bold r:id="rId38"/>
      <p:italic r:id="rId39"/>
      <p:boldItalic r:id="rId40"/>
    </p:embeddedFont>
    <p:embeddedFont>
      <p:font typeface="Readex Pro Medium"/>
      <p:regular r:id="rId41"/>
      <p:bold r:id="rId42"/>
    </p:embeddedFont>
    <p:embeddedFont>
      <p:font typeface="Readex Pro SemiBold"/>
      <p:regular r:id="rId43"/>
      <p:bold r:id="rId44"/>
    </p:embeddedFont>
    <p:embeddedFont>
      <p:font typeface="Readex Pro"/>
      <p:regular r:id="rId45"/>
      <p:bold r:id="rId46"/>
    </p:embeddedFont>
    <p:embeddedFont>
      <p:font typeface="Readex Pro Light"/>
      <p:regular r:id="rId47"/>
      <p:bold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9" roundtripDataSignature="AMtx7mh1GeQrG1kO//gaBT9ZQp796F1r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ED9858-D163-4338-9E88-1F424354888F}">
  <a:tblStyle styleId="{B8ED9858-D163-4338-9E88-1F42435488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6" Type="http://schemas.openxmlformats.org/officeDocument/2006/relationships/slide" Target="slides/slide3.xml"/><Relationship Id="rId18" Type="http://schemas.openxmlformats.org/officeDocument/2006/relationships/slide" Target="slides/slide7.xml"/><Relationship Id="rId19" Type="http://schemas.openxmlformats.org/officeDocument/2006/relationships/slide" Target="slides/slide12.xml"/><Relationship Id="rId20" Type="http://schemas.openxmlformats.org/officeDocument/2006/relationships/slide" Target="slides/slide6.xml"/><Relationship Id="rId21" Type="http://schemas.openxmlformats.org/officeDocument/2006/relationships/slide" Target="slides/slide4.xml"/><Relationship Id="rId22" Type="http://schemas.openxmlformats.org/officeDocument/2006/relationships/slide" Target="slides/slide18.xml"/><Relationship Id="rId23" Type="http://schemas.openxmlformats.org/officeDocument/2006/relationships/slide" Target="slides/slide5.xml"/><Relationship Id="rId25" Type="http://schemas.openxmlformats.org/officeDocument/2006/relationships/slide" Target="slides/slide19.xml"/><Relationship Id="rId26" Type="http://schemas.openxmlformats.org/officeDocument/2006/relationships/slide" Target="slides/slide13.xml"/><Relationship Id="rId29" Type="http://schemas.openxmlformats.org/officeDocument/2006/relationships/slide" Target="slides/slide16.xml"/><Relationship Id="rId30" Type="http://schemas.openxmlformats.org/officeDocument/2006/relationships/slide" Target="slides/slide10.xml"/><Relationship Id="rId31" Type="http://schemas.openxmlformats.org/officeDocument/2006/relationships/slide" Target="slides/slide11.xml"/><Relationship Id="rId32" Type="http://schemas.openxmlformats.org/officeDocument/2006/relationships/slide" Target="slides/slide15.xml"/><Relationship Id="rId33" Type="http://schemas.openxmlformats.org/officeDocument/2006/relationships/slide" Target="slides/slide14.xml"/><Relationship Id="rId36" Type="http://schemas.openxmlformats.org/officeDocument/2006/relationships/slide" Target="slides/slide22.xml"/><Relationship Id="rId37" Type="http://schemas.openxmlformats.org/officeDocument/2006/relationships/font" Target="fonts/Urbanist-regular.fntdata"/><Relationship Id="rId38" Type="http://schemas.openxmlformats.org/officeDocument/2006/relationships/font" Target="fonts/Urbanist-bold.fntdata"/><Relationship Id="rId39" Type="http://schemas.openxmlformats.org/officeDocument/2006/relationships/font" Target="fonts/Urbanist-italic.fntdata"/><Relationship Id="rId40" Type="http://schemas.openxmlformats.org/officeDocument/2006/relationships/font" Target="fonts/Urbanist-boldItalic.fntdata"/><Relationship Id="rId41" Type="http://schemas.openxmlformats.org/officeDocument/2006/relationships/font" Target="fonts/ReadexProMedium-regular.fntdata"/><Relationship Id="rId42" Type="http://schemas.openxmlformats.org/officeDocument/2006/relationships/font" Target="fonts/ReadexProMedium-bold.fntdata"/><Relationship Id="rId43" Type="http://schemas.openxmlformats.org/officeDocument/2006/relationships/font" Target="fonts/ReadexProSemiBold-regular.fntdata"/><Relationship Id="rId44" Type="http://schemas.openxmlformats.org/officeDocument/2006/relationships/font" Target="fonts/ReadexProSemiBold-bold.fntdata"/><Relationship Id="rId45" Type="http://schemas.openxmlformats.org/officeDocument/2006/relationships/font" Target="fonts/ReadexPro-regular.fntdata"/><Relationship Id="rId46" Type="http://schemas.openxmlformats.org/officeDocument/2006/relationships/font" Target="fonts/ReadexPro-bold.fntdata"/><Relationship Id="rId47" Type="http://schemas.openxmlformats.org/officeDocument/2006/relationships/font" Target="fonts/ReadexProLight-regular.fntdata"/><Relationship Id="rId48" Type="http://schemas.openxmlformats.org/officeDocument/2006/relationships/font" Target="fonts/ReadexProLight-bold.fntdata"/><Relationship Id="rId49" Type="http://customschemas.google.com/relationships/presentationmetadata" Target="metadata"/><Relationship Id="rId50" Type="http://schemas.openxmlformats.org/officeDocument/2006/relationships/slide" Target="slides/slide8.xml"/><Relationship Id="rId51" Type="http://schemas.openxmlformats.org/officeDocument/2006/relationships/slide" Target="slides/slide9.xml"/><Relationship Id="rId52" Type="http://schemas.openxmlformats.org/officeDocument/2006/relationships/slide" Target="slides/slide17.xml"/><Relationship Id="rId53" Type="http://schemas.openxmlformats.org/officeDocument/2006/relationships/slide" Target="slides/slide21.xml"/><Relationship Id="rId54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482" name="Google Shape;48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95" name="Google Shape;495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496" name="Google Shape;496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3" name="Google Shape;533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534" name="Google Shape;534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67" name="Google Shape;567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568" name="Google Shape;568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83" name="Google Shape;583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584" name="Google Shape;584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8" name="Google Shape;598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599" name="Google Shape;599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p1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23" name="Google Shape;623;p1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624" name="Google Shape;624;p1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7" name="Google Shape;647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648" name="Google Shape;648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4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p2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06" name="Google Shape;706;p2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707" name="Google Shape;707;p2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5" name="Google Shape;725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726" name="Google Shape;726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815" name="Google Shape;81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7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p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9" name="Google Shape;829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830" name="Google Shape;830;p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7" name="Shape 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Google Shape;838;p2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39" name="Google Shape;839;p2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840" name="Google Shape;840;p2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5" name="Google Shape;855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856" name="Google Shape;856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6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2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8" name="Google Shape;878;p2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879" name="Google Shape;879;p2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1" name="Google Shape;911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912" name="Google Shape;912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غلاف المشروع">
  <p:cSld name="غلاف المشروع">
    <p:bg>
      <p:bgPr>
        <a:solidFill>
          <a:srgbClr val="12183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876872"/>
            <a:ext cx="6572250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8" y="3190875"/>
            <a:ext cx="6701734" cy="619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4"/>
          <p:cNvSpPr txBox="1"/>
          <p:nvPr>
            <p:ph type="title"/>
          </p:nvPr>
        </p:nvSpPr>
        <p:spPr>
          <a:xfrm>
            <a:off x="8096250" y="3524250"/>
            <a:ext cx="904875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" name="Google Shape;17;p34"/>
          <p:cNvSpPr txBox="1"/>
          <p:nvPr>
            <p:ph idx="1" type="body"/>
          </p:nvPr>
        </p:nvSpPr>
        <p:spPr>
          <a:xfrm>
            <a:off x="8096250" y="5334000"/>
            <a:ext cx="9048750" cy="1619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" name="Google Shape;18;p34"/>
          <p:cNvSpPr txBox="1"/>
          <p:nvPr>
            <p:ph idx="2" type="body"/>
          </p:nvPr>
        </p:nvSpPr>
        <p:spPr>
          <a:xfrm>
            <a:off x="8953500" y="7762875"/>
            <a:ext cx="81915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" name="Google Shape;19;p34"/>
          <p:cNvSpPr txBox="1"/>
          <p:nvPr>
            <p:ph idx="3" type="body"/>
          </p:nvPr>
        </p:nvSpPr>
        <p:spPr>
          <a:xfrm>
            <a:off x="1066800" y="9391650"/>
            <a:ext cx="54292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حتويات العرض">
  <p:cSld name="محتويات العرض">
    <p:bg>
      <p:bgPr>
        <a:solidFill>
          <a:srgbClr val="12183F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3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" name="Google Shape;24;p3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" name="Google Shape;25;p3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" name="Google Shape;26;p3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5"/>
          <p:cNvSpPr txBox="1"/>
          <p:nvPr>
            <p:ph idx="2" type="body"/>
          </p:nvPr>
        </p:nvSpPr>
        <p:spPr>
          <a:xfrm>
            <a:off x="12382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" name="Google Shape;28;p35"/>
          <p:cNvSpPr txBox="1"/>
          <p:nvPr>
            <p:ph idx="3" type="body"/>
          </p:nvPr>
        </p:nvSpPr>
        <p:spPr>
          <a:xfrm>
            <a:off x="12382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" name="Google Shape;29;p35"/>
          <p:cNvSpPr txBox="1"/>
          <p:nvPr>
            <p:ph idx="4" type="body"/>
          </p:nvPr>
        </p:nvSpPr>
        <p:spPr>
          <a:xfrm>
            <a:off x="12382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0" name="Google Shape;30;p35"/>
          <p:cNvSpPr txBox="1"/>
          <p:nvPr>
            <p:ph idx="5" type="body"/>
          </p:nvPr>
        </p:nvSpPr>
        <p:spPr>
          <a:xfrm>
            <a:off x="7048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" name="Google Shape;31;p35"/>
          <p:cNvSpPr txBox="1"/>
          <p:nvPr>
            <p:ph idx="6" type="body"/>
          </p:nvPr>
        </p:nvSpPr>
        <p:spPr>
          <a:xfrm>
            <a:off x="7048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2" name="Google Shape;32;p35"/>
          <p:cNvSpPr txBox="1"/>
          <p:nvPr>
            <p:ph idx="7" type="body"/>
          </p:nvPr>
        </p:nvSpPr>
        <p:spPr>
          <a:xfrm>
            <a:off x="7048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3" name="Google Shape;33;p35"/>
          <p:cNvSpPr txBox="1"/>
          <p:nvPr>
            <p:ph idx="8" type="body"/>
          </p:nvPr>
        </p:nvSpPr>
        <p:spPr>
          <a:xfrm>
            <a:off x="1714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4" name="Google Shape;34;p35"/>
          <p:cNvSpPr txBox="1"/>
          <p:nvPr>
            <p:ph idx="9" type="body"/>
          </p:nvPr>
        </p:nvSpPr>
        <p:spPr>
          <a:xfrm>
            <a:off x="1714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5" name="Google Shape;35;p35"/>
          <p:cNvSpPr txBox="1"/>
          <p:nvPr>
            <p:ph idx="13" type="body"/>
          </p:nvPr>
        </p:nvSpPr>
        <p:spPr>
          <a:xfrm>
            <a:off x="1714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6" name="Google Shape;36;p35"/>
          <p:cNvSpPr txBox="1"/>
          <p:nvPr>
            <p:ph idx="14" type="body"/>
          </p:nvPr>
        </p:nvSpPr>
        <p:spPr>
          <a:xfrm>
            <a:off x="12382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7" name="Google Shape;37;p35"/>
          <p:cNvSpPr txBox="1"/>
          <p:nvPr>
            <p:ph idx="15" type="body"/>
          </p:nvPr>
        </p:nvSpPr>
        <p:spPr>
          <a:xfrm>
            <a:off x="12382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8" name="Google Shape;38;p35"/>
          <p:cNvSpPr txBox="1"/>
          <p:nvPr>
            <p:ph idx="16" type="body"/>
          </p:nvPr>
        </p:nvSpPr>
        <p:spPr>
          <a:xfrm>
            <a:off x="12382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9" name="Google Shape;39;p35"/>
          <p:cNvSpPr txBox="1"/>
          <p:nvPr>
            <p:ph idx="17" type="body"/>
          </p:nvPr>
        </p:nvSpPr>
        <p:spPr>
          <a:xfrm>
            <a:off x="7048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0" name="Google Shape;40;p35"/>
          <p:cNvSpPr txBox="1"/>
          <p:nvPr>
            <p:ph idx="18" type="body"/>
          </p:nvPr>
        </p:nvSpPr>
        <p:spPr>
          <a:xfrm>
            <a:off x="7048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1" name="Google Shape;41;p35"/>
          <p:cNvSpPr txBox="1"/>
          <p:nvPr>
            <p:ph idx="19" type="body"/>
          </p:nvPr>
        </p:nvSpPr>
        <p:spPr>
          <a:xfrm>
            <a:off x="7048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2" name="Google Shape;42;p35"/>
          <p:cNvSpPr txBox="1"/>
          <p:nvPr>
            <p:ph idx="20" type="body"/>
          </p:nvPr>
        </p:nvSpPr>
        <p:spPr>
          <a:xfrm>
            <a:off x="1714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3" name="Google Shape;43;p35"/>
          <p:cNvSpPr txBox="1"/>
          <p:nvPr>
            <p:ph idx="21" type="body"/>
          </p:nvPr>
        </p:nvSpPr>
        <p:spPr>
          <a:xfrm>
            <a:off x="1714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4" name="Google Shape;44;p35"/>
          <p:cNvSpPr txBox="1"/>
          <p:nvPr>
            <p:ph idx="22" type="body"/>
          </p:nvPr>
        </p:nvSpPr>
        <p:spPr>
          <a:xfrm>
            <a:off x="1714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صل قسم">
  <p:cSld name="فاصل قسم">
    <p:bg>
      <p:bgPr>
        <a:solidFill>
          <a:srgbClr val="12183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87391"/>
            <a:ext cx="4000500" cy="102551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36"/>
          <p:cNvSpPr txBox="1"/>
          <p:nvPr>
            <p:ph idx="1" type="body"/>
          </p:nvPr>
        </p:nvSpPr>
        <p:spPr>
          <a:xfrm>
            <a:off x="13430250" y="3143250"/>
            <a:ext cx="361950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9" name="Google Shape;49;p36"/>
          <p:cNvSpPr txBox="1"/>
          <p:nvPr>
            <p:ph type="title"/>
          </p:nvPr>
        </p:nvSpPr>
        <p:spPr>
          <a:xfrm>
            <a:off x="4953000" y="4810125"/>
            <a:ext cx="1209675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0" name="Google Shape;50;p36"/>
          <p:cNvSpPr txBox="1"/>
          <p:nvPr>
            <p:ph idx="2" type="body"/>
          </p:nvPr>
        </p:nvSpPr>
        <p:spPr>
          <a:xfrm>
            <a:off x="6667500" y="6572250"/>
            <a:ext cx="10382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">
  <p:cSld name="أربع نقاط">
    <p:bg>
      <p:bgPr>
        <a:solidFill>
          <a:srgbClr val="12183F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3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5" name="Google Shape;55;p3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6" name="Google Shape;56;p3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7" name="Google Shape;57;p3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58" name="Google Shape;58;p3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7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0" name="Google Shape;60;p37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1" name="Google Shape;61;p37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2" name="Google Shape;62;p37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3" name="Google Shape;63;p37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4" name="Google Shape;64;p37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5" name="Google Shape;65;p37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6" name="Google Shape;66;p37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رئيسي">
  <p:cSld name="نص رئيسي">
    <p:bg>
      <p:bgPr>
        <a:solidFill>
          <a:srgbClr val="12183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1" name="Google Shape;71;p3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2" name="Google Shape;72;p3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73" name="Google Shape;73;p3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8"/>
          <p:cNvSpPr txBox="1"/>
          <p:nvPr>
            <p:ph idx="2" type="body"/>
          </p:nvPr>
        </p:nvSpPr>
        <p:spPr>
          <a:xfrm>
            <a:off x="6191250" y="4000500"/>
            <a:ext cx="1095375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5" name="Google Shape;75;p38"/>
          <p:cNvSpPr txBox="1"/>
          <p:nvPr>
            <p:ph idx="3" type="body"/>
          </p:nvPr>
        </p:nvSpPr>
        <p:spPr>
          <a:xfrm>
            <a:off x="6191250" y="7239000"/>
            <a:ext cx="1095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6" name="Google Shape;76;p38"/>
          <p:cNvSpPr txBox="1"/>
          <p:nvPr>
            <p:ph idx="4" type="body"/>
          </p:nvPr>
        </p:nvSpPr>
        <p:spPr>
          <a:xfrm>
            <a:off x="6191250" y="8001000"/>
            <a:ext cx="109537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عريضة">
  <p:cSld name="نص وصورة عريضة">
    <p:bg>
      <p:bgPr>
        <a:solidFill>
          <a:srgbClr val="12183F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3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1" name="Google Shape;81;p3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2" name="Google Shape;82;p3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83" name="Google Shape;83;p3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39"/>
          <p:cNvSpPr/>
          <p:nvPr>
            <p:ph idx="2" type="pic"/>
          </p:nvPr>
        </p:nvSpPr>
        <p:spPr>
          <a:xfrm>
            <a:off x="1428750" y="4048125"/>
            <a:ext cx="8382000" cy="4714875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39"/>
          <p:cNvSpPr txBox="1"/>
          <p:nvPr>
            <p:ph idx="3" type="body"/>
          </p:nvPr>
        </p:nvSpPr>
        <p:spPr>
          <a:xfrm>
            <a:off x="10763250" y="409575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6" name="Google Shape;86;p39"/>
          <p:cNvSpPr txBox="1"/>
          <p:nvPr>
            <p:ph idx="4" type="body"/>
          </p:nvPr>
        </p:nvSpPr>
        <p:spPr>
          <a:xfrm>
            <a:off x="10763250" y="480060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7" name="Google Shape;87;p39"/>
          <p:cNvSpPr txBox="1"/>
          <p:nvPr>
            <p:ph idx="5" type="body"/>
          </p:nvPr>
        </p:nvSpPr>
        <p:spPr>
          <a:xfrm>
            <a:off x="10763250" y="666750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8" name="Google Shape;88;p39"/>
          <p:cNvSpPr txBox="1"/>
          <p:nvPr>
            <p:ph idx="6" type="body"/>
          </p:nvPr>
        </p:nvSpPr>
        <p:spPr>
          <a:xfrm>
            <a:off x="10763250" y="737235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مربعة">
  <p:cSld name="نص وصورة مربعة">
    <p:bg>
      <p:bgPr>
        <a:solidFill>
          <a:srgbClr val="12183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3" name="Google Shape;93;p4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4" name="Google Shape;94;p4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95" name="Google Shape;95;p4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0"/>
          <p:cNvSpPr/>
          <p:nvPr>
            <p:ph idx="2" type="pic"/>
          </p:nvPr>
        </p:nvSpPr>
        <p:spPr>
          <a:xfrm>
            <a:off x="2190750" y="3476625"/>
            <a:ext cx="5715000" cy="571500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40"/>
          <p:cNvSpPr txBox="1"/>
          <p:nvPr>
            <p:ph idx="3" type="body"/>
          </p:nvPr>
        </p:nvSpPr>
        <p:spPr>
          <a:xfrm>
            <a:off x="10001250" y="3905250"/>
            <a:ext cx="714375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8" name="Google Shape;98;p40"/>
          <p:cNvSpPr txBox="1"/>
          <p:nvPr>
            <p:ph idx="4" type="body"/>
          </p:nvPr>
        </p:nvSpPr>
        <p:spPr>
          <a:xfrm>
            <a:off x="10001250" y="519112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9" name="Google Shape;99;p40"/>
          <p:cNvSpPr txBox="1"/>
          <p:nvPr>
            <p:ph idx="5" type="body"/>
          </p:nvPr>
        </p:nvSpPr>
        <p:spPr>
          <a:xfrm>
            <a:off x="10001250" y="8048625"/>
            <a:ext cx="71437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ؤشرات">
  <p:cSld name="مؤشرات">
    <p:bg>
      <p:bgPr>
        <a:solidFill>
          <a:srgbClr val="12183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41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4" name="Google Shape;104;p41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5" name="Google Shape;105;p41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6" name="Google Shape;106;p4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07" name="Google Shape;107;p4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41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9" name="Google Shape;109;p41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0" name="Google Shape;110;p41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1" name="Google Shape;111;p41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2" name="Google Shape;112;p41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3" name="Google Shape;113;p41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4" name="Google Shape;114;p41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5" name="Google Shape;115;p41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6" name="Google Shape;116;p41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7" name="Google Shape;117;p41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8" name="Google Shape;118;p41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9" name="Google Shape;119;p41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0" name="Google Shape;120;p41"/>
          <p:cNvSpPr txBox="1"/>
          <p:nvPr>
            <p:ph idx="18" type="body"/>
          </p:nvPr>
        </p:nvSpPr>
        <p:spPr>
          <a:xfrm>
            <a:off x="1714500" y="8763000"/>
            <a:ext cx="154305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رسالة رئيسية">
  <p:cSld name="رسالة رئيسية">
    <p:bg>
      <p:bgPr>
        <a:solidFill>
          <a:srgbClr val="F2F4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9873" y="685800"/>
            <a:ext cx="3994355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25" name="Google Shape;125;p4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2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7" name="Google Shape;127;p42"/>
          <p:cNvSpPr txBox="1"/>
          <p:nvPr>
            <p:ph idx="1" type="body"/>
          </p:nvPr>
        </p:nvSpPr>
        <p:spPr>
          <a:xfrm>
            <a:off x="3333750" y="6905625"/>
            <a:ext cx="11620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8" name="Google Shape;128;p42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داكن">
  <p:cSld name="جدول داكن">
    <p:bg>
      <p:bgPr>
        <a:solidFill>
          <a:srgbClr val="12183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3" name="Google Shape;133;p4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4" name="Google Shape;134;p4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5" name="Google Shape;135;p4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36" name="Google Shape;136;p4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3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8" name="Google Shape;138;p43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ط زمني">
  <p:cSld name="خط زمني">
    <p:bg>
      <p:bgPr>
        <a:solidFill>
          <a:srgbClr val="12183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44"/>
          <p:cNvSpPr/>
          <p:nvPr/>
        </p:nvSpPr>
        <p:spPr>
          <a:xfrm>
            <a:off x="14287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44"/>
          <p:cNvSpPr/>
          <p:nvPr/>
        </p:nvSpPr>
        <p:spPr>
          <a:xfrm>
            <a:off x="111442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4"/>
          <p:cNvSpPr/>
          <p:nvPr/>
        </p:nvSpPr>
        <p:spPr>
          <a:xfrm>
            <a:off x="80010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4"/>
          <p:cNvSpPr/>
          <p:nvPr/>
        </p:nvSpPr>
        <p:spPr>
          <a:xfrm>
            <a:off x="48577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4"/>
          <p:cNvSpPr/>
          <p:nvPr/>
        </p:nvSpPr>
        <p:spPr>
          <a:xfrm>
            <a:off x="1714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4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8" name="Google Shape;148;p4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9" name="Google Shape;149;p4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0" name="Google Shape;150;p4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51" name="Google Shape;151;p4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4"/>
          <p:cNvSpPr txBox="1"/>
          <p:nvPr>
            <p:ph idx="3" type="body"/>
          </p:nvPr>
        </p:nvSpPr>
        <p:spPr>
          <a:xfrm>
            <a:off x="14287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3" name="Google Shape;153;p44"/>
          <p:cNvSpPr txBox="1"/>
          <p:nvPr>
            <p:ph idx="4" type="body"/>
          </p:nvPr>
        </p:nvSpPr>
        <p:spPr>
          <a:xfrm>
            <a:off x="14287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4" name="Google Shape;154;p44"/>
          <p:cNvSpPr txBox="1"/>
          <p:nvPr>
            <p:ph idx="5" type="body"/>
          </p:nvPr>
        </p:nvSpPr>
        <p:spPr>
          <a:xfrm>
            <a:off x="14287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5" name="Google Shape;155;p44"/>
          <p:cNvSpPr txBox="1"/>
          <p:nvPr>
            <p:ph idx="6" type="body"/>
          </p:nvPr>
        </p:nvSpPr>
        <p:spPr>
          <a:xfrm>
            <a:off x="14287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6" name="Google Shape;156;p44"/>
          <p:cNvSpPr txBox="1"/>
          <p:nvPr>
            <p:ph idx="7" type="body"/>
          </p:nvPr>
        </p:nvSpPr>
        <p:spPr>
          <a:xfrm>
            <a:off x="111442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7" name="Google Shape;157;p44"/>
          <p:cNvSpPr txBox="1"/>
          <p:nvPr>
            <p:ph idx="8" type="body"/>
          </p:nvPr>
        </p:nvSpPr>
        <p:spPr>
          <a:xfrm>
            <a:off x="111442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8" name="Google Shape;158;p44"/>
          <p:cNvSpPr txBox="1"/>
          <p:nvPr>
            <p:ph idx="9" type="body"/>
          </p:nvPr>
        </p:nvSpPr>
        <p:spPr>
          <a:xfrm>
            <a:off x="111442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9" name="Google Shape;159;p44"/>
          <p:cNvSpPr txBox="1"/>
          <p:nvPr>
            <p:ph idx="13" type="body"/>
          </p:nvPr>
        </p:nvSpPr>
        <p:spPr>
          <a:xfrm>
            <a:off x="111442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0" name="Google Shape;160;p44"/>
          <p:cNvSpPr txBox="1"/>
          <p:nvPr>
            <p:ph idx="14" type="body"/>
          </p:nvPr>
        </p:nvSpPr>
        <p:spPr>
          <a:xfrm>
            <a:off x="80010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1" name="Google Shape;161;p44"/>
          <p:cNvSpPr txBox="1"/>
          <p:nvPr>
            <p:ph idx="15" type="body"/>
          </p:nvPr>
        </p:nvSpPr>
        <p:spPr>
          <a:xfrm>
            <a:off x="80010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2" name="Google Shape;162;p44"/>
          <p:cNvSpPr txBox="1"/>
          <p:nvPr>
            <p:ph idx="16" type="body"/>
          </p:nvPr>
        </p:nvSpPr>
        <p:spPr>
          <a:xfrm>
            <a:off x="80010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3" name="Google Shape;163;p44"/>
          <p:cNvSpPr txBox="1"/>
          <p:nvPr>
            <p:ph idx="17" type="body"/>
          </p:nvPr>
        </p:nvSpPr>
        <p:spPr>
          <a:xfrm>
            <a:off x="80010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4" name="Google Shape;164;p44"/>
          <p:cNvSpPr txBox="1"/>
          <p:nvPr>
            <p:ph idx="18" type="body"/>
          </p:nvPr>
        </p:nvSpPr>
        <p:spPr>
          <a:xfrm>
            <a:off x="48577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5" name="Google Shape;165;p44"/>
          <p:cNvSpPr txBox="1"/>
          <p:nvPr>
            <p:ph idx="19" type="body"/>
          </p:nvPr>
        </p:nvSpPr>
        <p:spPr>
          <a:xfrm>
            <a:off x="48577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6" name="Google Shape;166;p44"/>
          <p:cNvSpPr txBox="1"/>
          <p:nvPr>
            <p:ph idx="20" type="body"/>
          </p:nvPr>
        </p:nvSpPr>
        <p:spPr>
          <a:xfrm>
            <a:off x="48577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7" name="Google Shape;167;p44"/>
          <p:cNvSpPr txBox="1"/>
          <p:nvPr>
            <p:ph idx="21" type="body"/>
          </p:nvPr>
        </p:nvSpPr>
        <p:spPr>
          <a:xfrm>
            <a:off x="48577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8" name="Google Shape;168;p44"/>
          <p:cNvSpPr txBox="1"/>
          <p:nvPr>
            <p:ph idx="22" type="body"/>
          </p:nvPr>
        </p:nvSpPr>
        <p:spPr>
          <a:xfrm>
            <a:off x="1714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9" name="Google Shape;169;p44"/>
          <p:cNvSpPr txBox="1"/>
          <p:nvPr>
            <p:ph idx="23" type="body"/>
          </p:nvPr>
        </p:nvSpPr>
        <p:spPr>
          <a:xfrm>
            <a:off x="1714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24" type="body"/>
          </p:nvPr>
        </p:nvSpPr>
        <p:spPr>
          <a:xfrm>
            <a:off x="1714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1" name="Google Shape;171;p44"/>
          <p:cNvSpPr txBox="1"/>
          <p:nvPr>
            <p:ph idx="25" type="body"/>
          </p:nvPr>
        </p:nvSpPr>
        <p:spPr>
          <a:xfrm>
            <a:off x="1714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ريق العمل">
  <p:cSld name="فريق العمل">
    <p:bg>
      <p:bgPr>
        <a:solidFill>
          <a:srgbClr val="12183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4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6" name="Google Shape;176;p4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7" name="Google Shape;177;p45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8" name="Google Shape;178;p4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79" name="Google Shape;179;p4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5"/>
          <p:cNvSpPr/>
          <p:nvPr>
            <p:ph idx="3" type="pic"/>
          </p:nvPr>
        </p:nvSpPr>
        <p:spPr>
          <a:xfrm>
            <a:off x="14192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45"/>
          <p:cNvSpPr txBox="1"/>
          <p:nvPr>
            <p:ph idx="4" type="body"/>
          </p:nvPr>
        </p:nvSpPr>
        <p:spPr>
          <a:xfrm>
            <a:off x="13716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2" name="Google Shape;182;p45"/>
          <p:cNvSpPr txBox="1"/>
          <p:nvPr>
            <p:ph idx="5" type="body"/>
          </p:nvPr>
        </p:nvSpPr>
        <p:spPr>
          <a:xfrm>
            <a:off x="13716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3" name="Google Shape;183;p45"/>
          <p:cNvSpPr/>
          <p:nvPr>
            <p:ph idx="6" type="pic"/>
          </p:nvPr>
        </p:nvSpPr>
        <p:spPr>
          <a:xfrm>
            <a:off x="10191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45"/>
          <p:cNvSpPr txBox="1"/>
          <p:nvPr>
            <p:ph idx="7" type="body"/>
          </p:nvPr>
        </p:nvSpPr>
        <p:spPr>
          <a:xfrm>
            <a:off x="9715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5" name="Google Shape;185;p45"/>
          <p:cNvSpPr txBox="1"/>
          <p:nvPr>
            <p:ph idx="8" type="body"/>
          </p:nvPr>
        </p:nvSpPr>
        <p:spPr>
          <a:xfrm>
            <a:off x="9715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6" name="Google Shape;186;p45"/>
          <p:cNvSpPr/>
          <p:nvPr>
            <p:ph idx="9" type="pic"/>
          </p:nvPr>
        </p:nvSpPr>
        <p:spPr>
          <a:xfrm>
            <a:off x="6191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45"/>
          <p:cNvSpPr txBox="1"/>
          <p:nvPr>
            <p:ph idx="13" type="body"/>
          </p:nvPr>
        </p:nvSpPr>
        <p:spPr>
          <a:xfrm>
            <a:off x="5715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8" name="Google Shape;188;p45"/>
          <p:cNvSpPr txBox="1"/>
          <p:nvPr>
            <p:ph idx="14" type="body"/>
          </p:nvPr>
        </p:nvSpPr>
        <p:spPr>
          <a:xfrm>
            <a:off x="5715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9" name="Google Shape;189;p45"/>
          <p:cNvSpPr/>
          <p:nvPr>
            <p:ph idx="15" type="pic"/>
          </p:nvPr>
        </p:nvSpPr>
        <p:spPr>
          <a:xfrm>
            <a:off x="2190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45"/>
          <p:cNvSpPr txBox="1"/>
          <p:nvPr>
            <p:ph idx="16" type="body"/>
          </p:nvPr>
        </p:nvSpPr>
        <p:spPr>
          <a:xfrm>
            <a:off x="1714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1" name="Google Shape;191;p45"/>
          <p:cNvSpPr txBox="1"/>
          <p:nvPr>
            <p:ph idx="17" type="body"/>
          </p:nvPr>
        </p:nvSpPr>
        <p:spPr>
          <a:xfrm>
            <a:off x="1714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 فاتحة">
  <p:cSld name="أربع نقاط فاتحة">
    <p:bg>
      <p:bgPr>
        <a:solidFill>
          <a:srgbClr val="F2F4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6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6" name="Google Shape;196;p46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7" name="Google Shape;197;p46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8" name="Google Shape;198;p4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99" name="Google Shape;199;p4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6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1" name="Google Shape;201;p46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2" name="Google Shape;202;p46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3" name="Google Shape;203;p46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4" name="Google Shape;204;p46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5" name="Google Shape;205;p46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6" name="Google Shape;206;p46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7" name="Google Shape;207;p46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فاتح">
  <p:cSld name="جدول فاتح">
    <p:bg>
      <p:bgPr>
        <a:solidFill>
          <a:srgbClr val="F2F4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4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2" name="Google Shape;212;p4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3" name="Google Shape;213;p4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4" name="Google Shape;214;p4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15" name="Google Shape;215;p4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7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7" name="Google Shape;217;p47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بالأعمدة">
  <p:cSld name="مقارنة بالأعمدة">
    <p:bg>
      <p:bgPr>
        <a:solidFill>
          <a:srgbClr val="12183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4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2" name="Google Shape;222;p4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3" name="Google Shape;223;p48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4" name="Google Shape;224;p4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25" name="Google Shape;225;p4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8"/>
          <p:cNvSpPr txBox="1"/>
          <p:nvPr>
            <p:ph idx="3" type="body"/>
          </p:nvPr>
        </p:nvSpPr>
        <p:spPr>
          <a:xfrm>
            <a:off x="2095500" y="8905875"/>
            <a:ext cx="14192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7" name="Google Shape;227;p48"/>
          <p:cNvSpPr/>
          <p:nvPr>
            <p:ph idx="4" type="chart"/>
          </p:nvPr>
        </p:nvSpPr>
        <p:spPr>
          <a:xfrm>
            <a:off x="2095500" y="3905250"/>
            <a:ext cx="14192250" cy="4857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توزيع نسبي">
  <p:cSld name="توزيع نسبي">
    <p:bg>
      <p:bgPr>
        <a:solidFill>
          <a:srgbClr val="12183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2" name="Google Shape;232;p4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3" name="Google Shape;233;p49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4" name="Google Shape;234;p4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9"/>
          <p:cNvSpPr txBox="1"/>
          <p:nvPr>
            <p:ph idx="3" type="body"/>
          </p:nvPr>
        </p:nvSpPr>
        <p:spPr>
          <a:xfrm>
            <a:off x="1714500" y="890587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7" name="Google Shape;237;p49"/>
          <p:cNvSpPr/>
          <p:nvPr>
            <p:ph idx="4" type="chart"/>
          </p:nvPr>
        </p:nvSpPr>
        <p:spPr>
          <a:xfrm>
            <a:off x="2095500" y="3619500"/>
            <a:ext cx="14097000" cy="538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آلية العمل">
  <p:cSld name="آلية العمل">
    <p:bg>
      <p:bgPr>
        <a:solidFill>
          <a:srgbClr val="12183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2" name="Google Shape;242;p5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3" name="Google Shape;243;p50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4" name="Google Shape;244;p5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45" name="Google Shape;245;p5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50"/>
          <p:cNvSpPr txBox="1"/>
          <p:nvPr>
            <p:ph idx="3" type="body"/>
          </p:nvPr>
        </p:nvSpPr>
        <p:spPr>
          <a:xfrm>
            <a:off x="13716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7" name="Google Shape;247;p50"/>
          <p:cNvSpPr txBox="1"/>
          <p:nvPr>
            <p:ph idx="4" type="body"/>
          </p:nvPr>
        </p:nvSpPr>
        <p:spPr>
          <a:xfrm>
            <a:off x="9715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8" name="Google Shape;248;p50"/>
          <p:cNvSpPr txBox="1"/>
          <p:nvPr>
            <p:ph idx="5" type="body"/>
          </p:nvPr>
        </p:nvSpPr>
        <p:spPr>
          <a:xfrm>
            <a:off x="5715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9" name="Google Shape;249;p50"/>
          <p:cNvSpPr txBox="1"/>
          <p:nvPr>
            <p:ph idx="6" type="body"/>
          </p:nvPr>
        </p:nvSpPr>
        <p:spPr>
          <a:xfrm>
            <a:off x="1714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صورة كبيرة">
  <p:cSld name="صورة كبيرة">
    <p:bg>
      <p:bgPr>
        <a:solidFill>
          <a:srgbClr val="12183F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5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53" name="Google Shape;253;p5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1"/>
          <p:cNvSpPr/>
          <p:nvPr>
            <p:ph idx="2" type="pic"/>
          </p:nvPr>
        </p:nvSpPr>
        <p:spPr>
          <a:xfrm>
            <a:off x="1047750" y="666750"/>
            <a:ext cx="16192500" cy="6953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51"/>
          <p:cNvSpPr txBox="1"/>
          <p:nvPr>
            <p:ph type="title"/>
          </p:nvPr>
        </p:nvSpPr>
        <p:spPr>
          <a:xfrm>
            <a:off x="2190750" y="7962900"/>
            <a:ext cx="147637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6" name="Google Shape;256;p51"/>
          <p:cNvSpPr txBox="1"/>
          <p:nvPr>
            <p:ph idx="1" type="body"/>
          </p:nvPr>
        </p:nvSpPr>
        <p:spPr>
          <a:xfrm>
            <a:off x="2190750" y="8896350"/>
            <a:ext cx="147637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عرض الصور">
  <p:cSld name="معرض الصور">
    <p:bg>
      <p:bgPr>
        <a:solidFill>
          <a:srgbClr val="12183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52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1" name="Google Shape;261;p52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2" name="Google Shape;262;p5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2"/>
          <p:cNvSpPr/>
          <p:nvPr>
            <p:ph idx="2" type="pic"/>
          </p:nvPr>
        </p:nvSpPr>
        <p:spPr>
          <a:xfrm>
            <a:off x="12382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52"/>
          <p:cNvSpPr txBox="1"/>
          <p:nvPr>
            <p:ph idx="3" type="body"/>
          </p:nvPr>
        </p:nvSpPr>
        <p:spPr>
          <a:xfrm>
            <a:off x="12382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6" name="Google Shape;266;p52"/>
          <p:cNvSpPr/>
          <p:nvPr>
            <p:ph idx="4" type="pic"/>
          </p:nvPr>
        </p:nvSpPr>
        <p:spPr>
          <a:xfrm>
            <a:off x="7048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52"/>
          <p:cNvSpPr txBox="1"/>
          <p:nvPr>
            <p:ph idx="5" type="body"/>
          </p:nvPr>
        </p:nvSpPr>
        <p:spPr>
          <a:xfrm>
            <a:off x="7048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8" name="Google Shape;268;p52"/>
          <p:cNvSpPr/>
          <p:nvPr>
            <p:ph idx="6" type="pic"/>
          </p:nvPr>
        </p:nvSpPr>
        <p:spPr>
          <a:xfrm>
            <a:off x="1714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52"/>
          <p:cNvSpPr txBox="1"/>
          <p:nvPr>
            <p:ph idx="7" type="body"/>
          </p:nvPr>
        </p:nvSpPr>
        <p:spPr>
          <a:xfrm>
            <a:off x="1714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يقونات الهوية">
  <p:cSld name="أيقونات الهوية">
    <p:bg>
      <p:bgPr>
        <a:solidFill>
          <a:srgbClr val="12183F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5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4" name="Google Shape;274;p5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5" name="Google Shape;275;p5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6" name="Google Shape;276;p5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77" name="Google Shape;277;p5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3"/>
          <p:cNvSpPr txBox="1"/>
          <p:nvPr>
            <p:ph idx="3" type="body"/>
          </p:nvPr>
        </p:nvSpPr>
        <p:spPr>
          <a:xfrm>
            <a:off x="13716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9" name="Google Shape;279;p53"/>
          <p:cNvSpPr txBox="1"/>
          <p:nvPr>
            <p:ph idx="4" type="body"/>
          </p:nvPr>
        </p:nvSpPr>
        <p:spPr>
          <a:xfrm>
            <a:off x="13716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0" name="Google Shape;280;p53"/>
          <p:cNvSpPr txBox="1"/>
          <p:nvPr>
            <p:ph idx="5" type="body"/>
          </p:nvPr>
        </p:nvSpPr>
        <p:spPr>
          <a:xfrm>
            <a:off x="9715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1" name="Google Shape;281;p53"/>
          <p:cNvSpPr txBox="1"/>
          <p:nvPr>
            <p:ph idx="6" type="body"/>
          </p:nvPr>
        </p:nvSpPr>
        <p:spPr>
          <a:xfrm>
            <a:off x="9715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2" name="Google Shape;282;p53"/>
          <p:cNvSpPr txBox="1"/>
          <p:nvPr>
            <p:ph idx="7" type="body"/>
          </p:nvPr>
        </p:nvSpPr>
        <p:spPr>
          <a:xfrm>
            <a:off x="5715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3" name="Google Shape;283;p53"/>
          <p:cNvSpPr txBox="1"/>
          <p:nvPr>
            <p:ph idx="8" type="body"/>
          </p:nvPr>
        </p:nvSpPr>
        <p:spPr>
          <a:xfrm>
            <a:off x="5715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4" name="Google Shape;284;p53"/>
          <p:cNvSpPr txBox="1"/>
          <p:nvPr>
            <p:ph idx="9" type="body"/>
          </p:nvPr>
        </p:nvSpPr>
        <p:spPr>
          <a:xfrm>
            <a:off x="1714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5" name="Google Shape;285;p53"/>
          <p:cNvSpPr txBox="1"/>
          <p:nvPr>
            <p:ph idx="13" type="body"/>
          </p:nvPr>
        </p:nvSpPr>
        <p:spPr>
          <a:xfrm>
            <a:off x="1714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خيارين">
  <p:cSld name="مقارنة خيارين">
    <p:bg>
      <p:bgPr>
        <a:solidFill>
          <a:srgbClr val="12183F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5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0" name="Google Shape;290;p5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1" name="Google Shape;291;p5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2" name="Google Shape;292;p5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93" name="Google Shape;293;p5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54"/>
          <p:cNvSpPr txBox="1"/>
          <p:nvPr>
            <p:ph idx="3" type="body"/>
          </p:nvPr>
        </p:nvSpPr>
        <p:spPr>
          <a:xfrm>
            <a:off x="1000125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5" name="Google Shape;295;p54"/>
          <p:cNvSpPr txBox="1"/>
          <p:nvPr>
            <p:ph idx="4" type="body"/>
          </p:nvPr>
        </p:nvSpPr>
        <p:spPr>
          <a:xfrm>
            <a:off x="1000125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6" name="Google Shape;296;p54"/>
          <p:cNvSpPr txBox="1"/>
          <p:nvPr>
            <p:ph idx="5" type="body"/>
          </p:nvPr>
        </p:nvSpPr>
        <p:spPr>
          <a:xfrm>
            <a:off x="171450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7" name="Google Shape;297;p54"/>
          <p:cNvSpPr txBox="1"/>
          <p:nvPr>
            <p:ph idx="6" type="body"/>
          </p:nvPr>
        </p:nvSpPr>
        <p:spPr>
          <a:xfrm>
            <a:off x="171450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8" name="Google Shape;298;p54"/>
          <p:cNvSpPr txBox="1"/>
          <p:nvPr>
            <p:ph idx="7" type="body"/>
          </p:nvPr>
        </p:nvSpPr>
        <p:spPr>
          <a:xfrm>
            <a:off x="1000125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9" name="Google Shape;299;p54"/>
          <p:cNvSpPr txBox="1"/>
          <p:nvPr>
            <p:ph idx="8" type="body"/>
          </p:nvPr>
        </p:nvSpPr>
        <p:spPr>
          <a:xfrm>
            <a:off x="171450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داكنة">
  <p:cSld name="فارغة داكنة">
    <p:bg>
      <p:bgPr>
        <a:solidFill>
          <a:srgbClr val="12183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722542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5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4" name="Google Shape;304;p5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فاتحة">
  <p:cSld name="فارغة فاتحة">
    <p:bg>
      <p:bgPr>
        <a:solidFill>
          <a:srgbClr val="F2F4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5010" y="685800"/>
            <a:ext cx="3072581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9" name="Google Shape;309;p5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تام العرض">
  <p:cSld name="ختام العرض">
    <p:bg>
      <p:bgPr>
        <a:solidFill>
          <a:srgbClr val="12183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0" y="1336151"/>
            <a:ext cx="6667500" cy="1709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9485" y="8524875"/>
            <a:ext cx="3045029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57"/>
          <p:cNvPicPr preferRelativeResize="0"/>
          <p:nvPr/>
        </p:nvPicPr>
        <p:blipFill rotWithShape="1">
          <a:blip r:embed="rId5">
            <a:alphaModFix/>
          </a:blip>
          <a:srcRect b="16000" l="4300" r="69700" t="16000"/>
          <a:stretch/>
        </p:blipFill>
        <p:spPr>
          <a:xfrm>
            <a:off x="4857750" y="8629650"/>
            <a:ext cx="3810000" cy="1476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7"/>
          <p:cNvSpPr txBox="1"/>
          <p:nvPr>
            <p:ph type="title"/>
          </p:nvPr>
        </p:nvSpPr>
        <p:spPr>
          <a:xfrm>
            <a:off x="3810000" y="4048125"/>
            <a:ext cx="10668000" cy="1428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6" name="Google Shape;316;p57"/>
          <p:cNvSpPr txBox="1"/>
          <p:nvPr>
            <p:ph idx="1" type="body"/>
          </p:nvPr>
        </p:nvSpPr>
        <p:spPr>
          <a:xfrm>
            <a:off x="3810000" y="5905500"/>
            <a:ext cx="1066800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7" name="Google Shape;317;p57"/>
          <p:cNvSpPr txBox="1"/>
          <p:nvPr>
            <p:ph idx="2" type="body"/>
          </p:nvPr>
        </p:nvSpPr>
        <p:spPr>
          <a:xfrm>
            <a:off x="3810000" y="7000875"/>
            <a:ext cx="1066800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1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29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hyperlink" Target="https://afaq-web.onrender.com" TargetMode="External"/><Relationship Id="rId3" Type="http://schemas.openxmlformats.org/officeDocument/2006/relationships/image" Target="../media/image7.png"/><Relationship Id="rId4" Type="http://schemas.openxmlformats.org/officeDocument/2006/relationships/image" Target="../media/image11.png"/><Relationship Id="rId5" Type="http://schemas.openxmlformats.org/officeDocument/2006/relationships/hyperlink" Target="https://github.com/falfahad-source/-" TargetMode="External"/><Relationship Id="rId6" Type="http://schemas.openxmlformats.org/officeDocument/2006/relationships/hyperlink" Target="https://github.com/falfahad-source/-/raw/claude/wonderful-cray-b4kxv3/deliverables/afaq-video-voiceover.mp4" TargetMode="External"/><Relationship Id="rId7" Type="http://schemas.openxmlformats.org/officeDocument/2006/relationships/hyperlink" Target="https://github.com/falfahad-source/-/raw/claude/wonderful-cray-b4kxv3/deliverables/afaq-documentation.pdf" TargetMode="External"/><Relationship Id="rId8" Type="http://schemas.openxmlformats.org/officeDocument/2006/relationships/hyperlink" Target="https://github.com/falfahad-source/-/raw/claude/wonderful-cray-b4kxv3/deliverables/afaq-presentation.pdf" TargetMode="External"/><Relationship Id="rId9" Type="http://schemas.openxmlformats.org/officeDocument/2006/relationships/hyperlink" Target="https://github.com/falfahad-source/-/tree/claude/wonderful-cray-b4kxv3/deliverables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25.png"/><Relationship Id="rId8" Type="http://schemas.openxmlformats.org/officeDocument/2006/relationships/image" Target="../media/image22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4" name="Google Shape;48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8" title="الصورة الرئيسية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975" y="1103475"/>
            <a:ext cx="9312476" cy="8603123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8"/>
          <p:cNvSpPr txBox="1"/>
          <p:nvPr>
            <p:ph type="title"/>
          </p:nvPr>
        </p:nvSpPr>
        <p:spPr>
          <a:xfrm>
            <a:off x="7791450" y="3524250"/>
            <a:ext cx="90489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b="1" lang="ar-SA" sz="64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آفاق</a:t>
            </a:r>
            <a:endParaRPr/>
          </a:p>
        </p:txBody>
      </p:sp>
      <p:sp>
        <p:nvSpPr>
          <p:cNvPr id="487" name="Google Shape;487;p8"/>
          <p:cNvSpPr txBox="1"/>
          <p:nvPr>
            <p:ph idx="1" type="body"/>
          </p:nvPr>
        </p:nvSpPr>
        <p:spPr>
          <a:xfrm>
            <a:off x="7791450" y="5334000"/>
            <a:ext cx="9048900" cy="16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b="0" lang="ar-SA" sz="33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حين يلتقي التفسير بالمعرفة</a:t>
            </a:r>
            <a:endParaRPr/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b="0" lang="ar-SA" sz="33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استكشاف الآية بمصدر واضح لكل معلومة</a:t>
            </a:r>
            <a:endParaRPr/>
          </a:p>
        </p:txBody>
      </p:sp>
      <p:sp>
        <p:nvSpPr>
          <p:cNvPr id="488" name="Google Shape;488;p8"/>
          <p:cNvSpPr/>
          <p:nvPr/>
        </p:nvSpPr>
        <p:spPr>
          <a:xfrm>
            <a:off x="1143000" y="8843963"/>
            <a:ext cx="16002000" cy="9600"/>
          </a:xfrm>
          <a:prstGeom prst="rect">
            <a:avLst/>
          </a:prstGeom>
          <a:solidFill>
            <a:srgbClr val="FFFFFF">
              <a:alpha val="1216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8"/>
          <p:cNvSpPr/>
          <p:nvPr/>
        </p:nvSpPr>
        <p:spPr>
          <a:xfrm>
            <a:off x="14472130" y="9120188"/>
            <a:ext cx="23580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فريق مشروع آفاق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490" name="Google Shape;490;p8"/>
          <p:cNvSpPr/>
          <p:nvPr/>
        </p:nvSpPr>
        <p:spPr>
          <a:xfrm>
            <a:off x="1397000" y="9120188"/>
            <a:ext cx="27657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٦ أكتوبر ٢٠٢٦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pic>
        <p:nvPicPr>
          <p:cNvPr id="491" name="Google Shape;49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0" y="691134"/>
            <a:ext cx="6572252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97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8" name="Google Shape;498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9" name="Google Shape;499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500" name="Google Shape;500;p9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آفاق</a:t>
            </a:r>
            <a:endParaRPr/>
          </a:p>
        </p:txBody>
      </p:sp>
      <p:sp>
        <p:nvSpPr>
          <p:cNvPr id="501" name="Google Shape;501;p9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محتويات العرض</a:t>
            </a:r>
            <a:endParaRPr/>
          </a:p>
        </p:txBody>
      </p:sp>
      <p:sp>
        <p:nvSpPr>
          <p:cNvPr id="502" name="Google Shape;502;p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03" name="Google Shape;503;p9"/>
          <p:cNvSpPr txBox="1"/>
          <p:nvPr>
            <p:ph idx="2" type="body"/>
          </p:nvPr>
        </p:nvSpPr>
        <p:spPr>
          <a:xfrm>
            <a:off x="12077700" y="3857625"/>
            <a:ext cx="44769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504" name="Google Shape;504;p9"/>
          <p:cNvSpPr txBox="1"/>
          <p:nvPr>
            <p:ph idx="3" type="body"/>
          </p:nvPr>
        </p:nvSpPr>
        <p:spPr>
          <a:xfrm>
            <a:off x="12077700" y="4724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505" name="Google Shape;505;p9"/>
          <p:cNvSpPr txBox="1"/>
          <p:nvPr>
            <p:ph idx="4" type="body"/>
          </p:nvPr>
        </p:nvSpPr>
        <p:spPr>
          <a:xfrm>
            <a:off x="12077700" y="5419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لماذا نحتاج آفاق</a:t>
            </a:r>
            <a:endParaRPr/>
          </a:p>
        </p:txBody>
      </p:sp>
      <p:sp>
        <p:nvSpPr>
          <p:cNvPr id="506" name="Google Shape;506;p9"/>
          <p:cNvSpPr txBox="1"/>
          <p:nvPr>
            <p:ph idx="5" type="body"/>
          </p:nvPr>
        </p:nvSpPr>
        <p:spPr>
          <a:xfrm>
            <a:off x="6743700" y="3857625"/>
            <a:ext cx="44769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507" name="Google Shape;507;p9"/>
          <p:cNvSpPr txBox="1"/>
          <p:nvPr>
            <p:ph idx="6" type="body"/>
          </p:nvPr>
        </p:nvSpPr>
        <p:spPr>
          <a:xfrm>
            <a:off x="6743700" y="4724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508" name="Google Shape;508;p9"/>
          <p:cNvSpPr txBox="1"/>
          <p:nvPr>
            <p:ph idx="7" type="body"/>
          </p:nvPr>
        </p:nvSpPr>
        <p:spPr>
          <a:xfrm>
            <a:off x="6743700" y="5419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>
                <a:solidFill>
                  <a:srgbClr val="CBCFE6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رحلة الآية بطبقاتها الخمس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509" name="Google Shape;509;p9"/>
          <p:cNvSpPr txBox="1"/>
          <p:nvPr>
            <p:ph idx="8" type="body"/>
          </p:nvPr>
        </p:nvSpPr>
        <p:spPr>
          <a:xfrm>
            <a:off x="1409700" y="3857625"/>
            <a:ext cx="44769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510" name="Google Shape;510;p9"/>
          <p:cNvSpPr txBox="1"/>
          <p:nvPr>
            <p:ph idx="9" type="body"/>
          </p:nvPr>
        </p:nvSpPr>
        <p:spPr>
          <a:xfrm>
            <a:off x="1409700" y="4724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المنصة</a:t>
            </a:r>
            <a:endParaRPr/>
          </a:p>
        </p:txBody>
      </p:sp>
      <p:sp>
        <p:nvSpPr>
          <p:cNvPr id="511" name="Google Shape;511;p9"/>
          <p:cNvSpPr txBox="1"/>
          <p:nvPr>
            <p:ph idx="13" type="body"/>
          </p:nvPr>
        </p:nvSpPr>
        <p:spPr>
          <a:xfrm>
            <a:off x="1409700" y="5419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>
                <a:solidFill>
                  <a:srgbClr val="CBCFE6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المصحف والبحث والطبقات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512" name="Google Shape;512;p9"/>
          <p:cNvSpPr txBox="1"/>
          <p:nvPr>
            <p:ph idx="14" type="body"/>
          </p:nvPr>
        </p:nvSpPr>
        <p:spPr>
          <a:xfrm>
            <a:off x="12077700" y="6524625"/>
            <a:ext cx="44769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513" name="Google Shape;513;p9"/>
          <p:cNvSpPr txBox="1"/>
          <p:nvPr>
            <p:ph idx="15" type="body"/>
          </p:nvPr>
        </p:nvSpPr>
        <p:spPr>
          <a:xfrm>
            <a:off x="12077700" y="7391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الثقة</a:t>
            </a:r>
            <a:endParaRPr/>
          </a:p>
        </p:txBody>
      </p:sp>
      <p:sp>
        <p:nvSpPr>
          <p:cNvPr id="514" name="Google Shape;514;p9"/>
          <p:cNvSpPr txBox="1"/>
          <p:nvPr>
            <p:ph idx="16" type="body"/>
          </p:nvPr>
        </p:nvSpPr>
        <p:spPr>
          <a:xfrm>
            <a:off x="12077700" y="8086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>
                <a:solidFill>
                  <a:srgbClr val="CBCFE6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فئات الثقة والذكاء الاصطناعي المسؤول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515" name="Google Shape;515;p9"/>
          <p:cNvSpPr txBox="1"/>
          <p:nvPr>
            <p:ph idx="17" type="body"/>
          </p:nvPr>
        </p:nvSpPr>
        <p:spPr>
          <a:xfrm>
            <a:off x="6743700" y="6524625"/>
            <a:ext cx="44769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516" name="Google Shape;516;p9"/>
          <p:cNvSpPr txBox="1"/>
          <p:nvPr>
            <p:ph idx="18" type="body"/>
          </p:nvPr>
        </p:nvSpPr>
        <p:spPr>
          <a:xfrm>
            <a:off x="6743700" y="7391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التقنية</a:t>
            </a:r>
            <a:endParaRPr/>
          </a:p>
        </p:txBody>
      </p:sp>
      <p:sp>
        <p:nvSpPr>
          <p:cNvPr id="517" name="Google Shape;517;p9"/>
          <p:cNvSpPr txBox="1"/>
          <p:nvPr>
            <p:ph idx="19" type="body"/>
          </p:nvPr>
        </p:nvSpPr>
        <p:spPr>
          <a:xfrm>
            <a:off x="6743700" y="8086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>
                <a:solidFill>
                  <a:srgbClr val="CBCFE6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من المصادر الرسمية إلى الشاشة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518" name="Google Shape;518;p9"/>
          <p:cNvSpPr txBox="1"/>
          <p:nvPr>
            <p:ph idx="20" type="body"/>
          </p:nvPr>
        </p:nvSpPr>
        <p:spPr>
          <a:xfrm>
            <a:off x="1409700" y="6524625"/>
            <a:ext cx="44769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06</a:t>
            </a:r>
            <a:endParaRPr/>
          </a:p>
        </p:txBody>
      </p:sp>
      <p:sp>
        <p:nvSpPr>
          <p:cNvPr id="519" name="Google Shape;519;p9"/>
          <p:cNvSpPr txBox="1"/>
          <p:nvPr>
            <p:ph idx="21" type="body"/>
          </p:nvPr>
        </p:nvSpPr>
        <p:spPr>
          <a:xfrm>
            <a:off x="1409700" y="7391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التنفيذ</a:t>
            </a:r>
            <a:endParaRPr/>
          </a:p>
        </p:txBody>
      </p:sp>
      <p:sp>
        <p:nvSpPr>
          <p:cNvPr id="520" name="Google Shape;520;p9"/>
          <p:cNvSpPr txBox="1"/>
          <p:nvPr>
            <p:ph idx="22" type="body"/>
          </p:nvPr>
        </p:nvSpPr>
        <p:spPr>
          <a:xfrm>
            <a:off x="1409700" y="8086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>
                <a:solidFill>
                  <a:srgbClr val="CBCFE6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الخطة وحزمة التسليم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Google Shape;53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538" name="Google Shape;538;p1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المشكلة — المعرفة موجودة... لكنها متفرقة</a:t>
            </a:r>
            <a:endParaRPr/>
          </a:p>
        </p:txBody>
      </p:sp>
      <p:sp>
        <p:nvSpPr>
          <p:cNvPr id="539" name="Google Shape;539;p1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يريد دراسة العلاقة بين آية قرآنية وظاهرة علمية يجد نفسه مضطرًا للتنقل بين عالمَين متباعدَين: النص الشرعي وأدواته التفسيرية من جهة، والأبحاث العلمية الحديثة من جهة أخرى. المشكلة ليست نقص المحتوى — بل تشتته.</a:t>
            </a:r>
            <a:endParaRPr/>
          </a:p>
        </p:txBody>
      </p:sp>
      <p:sp>
        <p:nvSpPr>
          <p:cNvPr id="540" name="Google Shape;540;p1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41" name="Google Shape;541;p11"/>
          <p:cNvSpPr txBox="1"/>
          <p:nvPr>
            <p:ph idx="3" type="body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تشتت المصادر</a:t>
            </a:r>
            <a:endParaRPr/>
          </a:p>
        </p:txBody>
      </p:sp>
      <p:sp>
        <p:nvSpPr>
          <p:cNvPr id="542" name="Google Shape;542;p11"/>
          <p:cNvSpPr txBox="1"/>
          <p:nvPr>
            <p:ph idx="4" type="body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المعلومة موزعة بين كتب تفسير، ومواقع إلكترونية، وأبحاث أكاديمية متخصصة يصعب الجمع بينها.</a:t>
            </a:r>
            <a:endParaRPr/>
          </a:p>
        </p:txBody>
      </p:sp>
      <p:sp>
        <p:nvSpPr>
          <p:cNvPr id="543" name="Google Shape;543;p11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صعوبة التحقق</a:t>
            </a:r>
            <a:endParaRPr/>
          </a:p>
        </p:txBody>
      </p:sp>
      <p:sp>
        <p:nvSpPr>
          <p:cNvPr id="544" name="Google Shape;544;p11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يصعب على المستخدم التفريق بين التفسير المعتبر والاستنتاج الشخصي والادعاء العلمي.</a:t>
            </a:r>
            <a:endParaRPr/>
          </a:p>
        </p:txBody>
      </p:sp>
      <p:sp>
        <p:nvSpPr>
          <p:cNvPr id="545" name="Google Shape;545;p11"/>
          <p:cNvSpPr txBox="1"/>
          <p:nvPr>
            <p:ph idx="7" type="body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الفجوة الزمنية</a:t>
            </a:r>
            <a:endParaRPr/>
          </a:p>
        </p:txBody>
      </p:sp>
      <p:sp>
        <p:nvSpPr>
          <p:cNvPr id="546" name="Google Shape;546;p11"/>
          <p:cNvSpPr txBox="1"/>
          <p:nvPr>
            <p:ph idx="8" type="body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لا توجد تجربة متكاملة توضح كيف فُهمت الآية تاريخيًا، وكيف تطورت المعرفة المرتبطة بها.</a:t>
            </a:r>
            <a:endParaRPr/>
          </a:p>
        </p:txBody>
      </p:sp>
      <p:sp>
        <p:nvSpPr>
          <p:cNvPr id="547" name="Google Shape;547;p11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مخاطر الذكاء الاصطناعي العام</a:t>
            </a:r>
            <a:endParaRPr/>
          </a:p>
        </p:txBody>
      </p:sp>
      <p:sp>
        <p:nvSpPr>
          <p:cNvPr id="548" name="Google Shape;548;p11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يخلط بين النص الشرعي والتفسير والرأي والمعلومة العلمية في إجابة واحدة.</a:t>
            </a:r>
            <a:endParaRPr/>
          </a:p>
        </p:txBody>
      </p:sp>
      <p:sp>
        <p:nvSpPr>
          <p:cNvPr id="549" name="Google Shape;549;p11"/>
          <p:cNvSpPr/>
          <p:nvPr/>
        </p:nvSpPr>
        <p:spPr>
          <a:xfrm>
            <a:off x="76962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50" name="Google Shape;55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551" name="سؤال المشكلة"/>
          <p:cNvSpPr/>
          <p:nvPr/>
        </p:nvSpPr>
        <p:spPr>
          <a:xfrm>
            <a:off x="1719072" y="8613648"/>
            <a:ext cx="15435072" cy="694944"/>
          </a:xfrm>
          <a:prstGeom prst="roundRect">
            <a:avLst>
              <a:gd name="adj" fmla="val 18000"/>
            </a:avLst>
          </a:prstGeom>
          <a:solidFill>
            <a:srgbClr val="615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320040" lIns="320040"/>
          <a:lstStyle/>
          <a:p>
            <a:pPr algn="r" rtl="1"/>
            <a:r>
              <a:rPr sz="2200" b="1" lang="ar-SA">
                <a:solidFill>
                  <a:srgbClr val="FFFFFF"/>
                </a:solidFill>
                <a:latin typeface="Readex Pro"/>
                <a:cs typeface="Readex Pro"/>
              </a:rPr>
              <a:t>كيف نجعل الذكاء الاصطناعي أداة للاستكشاف والتحقق، لا أداة لإنتاج تفسيرات غير منضبطة؟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2F4FF"/>
        </a:solidFill>
      </p:bgPr>
    </p:bg>
    <p:spTree>
      <p:nvGrpSpPr>
        <p:cNvPr id="625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6" name="Google Shape;626;p16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7" name="Google Shape;627;p1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28" name="Google Shape;628;p16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50"/>
              <a:buNone/>
            </a:pPr>
            <a:r>
              <a:rPr b="1" lang="ar-SA" sz="555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كيف يستكشف القارئ الآية ومعارفها،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50"/>
              <a:buNone/>
            </a:pPr>
            <a:r>
              <a:rPr b="1" lang="ar-SA" sz="555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ويعرف دائمًا نوع كل معلومة ومصدرها؟</a:t>
            </a:r>
            <a:endParaRPr/>
          </a:p>
        </p:txBody>
      </p:sp>
      <p:sp>
        <p:nvSpPr>
          <p:cNvPr id="629" name="Google Shape;629;p16"/>
          <p:cNvSpPr txBox="1"/>
          <p:nvPr>
            <p:ph idx="1" type="body"/>
          </p:nvPr>
        </p:nvSpPr>
        <p:spPr>
          <a:xfrm>
            <a:off x="4202375" y="6905625"/>
            <a:ext cx="10752000" cy="5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0" lang="ar-SA" sz="27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السؤال الذي تجيب عنه آفاق</a:t>
            </a:r>
            <a:endParaRPr/>
          </a:p>
        </p:txBody>
      </p:sp>
      <p:sp>
        <p:nvSpPr>
          <p:cNvPr id="630" name="Google Shape;630;p16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50"/>
              <a:buNone/>
            </a:pPr>
            <a:r>
              <a:rPr b="0" lang="ar-SA" sz="19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القاعدة: وجود تشابه مع ظاهرة علمية لا يجعله تفسيرًا للآية</a:t>
            </a:r>
            <a:endParaRPr/>
          </a:p>
        </p:txBody>
      </p:sp>
      <p:pic>
        <p:nvPicPr>
          <p:cNvPr id="631" name="Google Shape;631;p16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0" name="Google Shape;65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1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52" name="Google Shape;652;p1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653" name="Google Shape;653;p1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رحلة الآية: خمس طبقات</a:t>
            </a:r>
            <a:endParaRPr/>
          </a:p>
        </p:txBody>
      </p:sp>
      <p:sp>
        <p:nvSpPr>
          <p:cNvPr id="654" name="Google Shape;654;p1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يختار المستخدم آية، فتنفتح طبقاتها بالترتيب، وكل طبقة بمصدرها وفئة ثقتها</a:t>
            </a:r>
            <a:endParaRPr/>
          </a:p>
        </p:txBody>
      </p:sp>
      <p:sp>
        <p:nvSpPr>
          <p:cNvPr id="655" name="Google Shape;655;p18"/>
          <p:cNvSpPr txBox="1"/>
          <p:nvPr>
            <p:ph idx="3" type="body"/>
          </p:nvPr>
        </p:nvSpPr>
        <p:spPr>
          <a:xfrm>
            <a:off x="13982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656" name="Google Shape;656;p18"/>
          <p:cNvSpPr txBox="1"/>
          <p:nvPr>
            <p:ph idx="4" type="body"/>
          </p:nvPr>
        </p:nvSpPr>
        <p:spPr>
          <a:xfrm>
            <a:off x="13982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التحليل اللغوي</a:t>
            </a:r>
            <a:endParaRPr/>
          </a:p>
        </p:txBody>
      </p:sp>
      <p:sp>
        <p:nvSpPr>
          <p:cNvPr id="657" name="Google Shape;657;p18"/>
          <p:cNvSpPr txBox="1"/>
          <p:nvPr>
            <p:ph idx="5" type="body"/>
          </p:nvPr>
        </p:nvSpPr>
        <p:spPr>
          <a:xfrm>
            <a:off x="13982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الصرف والغريب والإعراب</a:t>
            </a:r>
            <a:endParaRPr/>
          </a:p>
        </p:txBody>
      </p:sp>
      <p:sp>
        <p:nvSpPr>
          <p:cNvPr id="658" name="Google Shape;658;p18"/>
          <p:cNvSpPr txBox="1"/>
          <p:nvPr>
            <p:ph idx="6" type="body"/>
          </p:nvPr>
        </p:nvSpPr>
        <p:spPr>
          <a:xfrm>
            <a:off x="13982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Quranic Arabic Corpus وكتب الغريب والإعراب</a:t>
            </a:r>
            <a:endParaRPr/>
          </a:p>
        </p:txBody>
      </p:sp>
      <p:sp>
        <p:nvSpPr>
          <p:cNvPr id="659" name="Google Shape;659;p18"/>
          <p:cNvSpPr txBox="1"/>
          <p:nvPr>
            <p:ph idx="7" type="body"/>
          </p:nvPr>
        </p:nvSpPr>
        <p:spPr>
          <a:xfrm>
            <a:off x="108394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660" name="Google Shape;660;p18"/>
          <p:cNvSpPr txBox="1"/>
          <p:nvPr>
            <p:ph idx="8" type="body"/>
          </p:nvPr>
        </p:nvSpPr>
        <p:spPr>
          <a:xfrm>
            <a:off x="108394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التفسير عبر العصور</a:t>
            </a:r>
            <a:endParaRPr/>
          </a:p>
        </p:txBody>
      </p:sp>
      <p:sp>
        <p:nvSpPr>
          <p:cNvPr id="661" name="Google Shape;661;p18"/>
          <p:cNvSpPr txBox="1"/>
          <p:nvPr>
            <p:ph idx="9" type="body"/>
          </p:nvPr>
        </p:nvSpPr>
        <p:spPr>
          <a:xfrm>
            <a:off x="108394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بسنة وفاة المفسّر</a:t>
            </a:r>
            <a:endParaRPr/>
          </a:p>
        </p:txBody>
      </p:sp>
      <p:sp>
        <p:nvSpPr>
          <p:cNvPr id="662" name="Google Shape;662;p18"/>
          <p:cNvSpPr txBox="1"/>
          <p:nvPr>
            <p:ph idx="13" type="body"/>
          </p:nvPr>
        </p:nvSpPr>
        <p:spPr>
          <a:xfrm>
            <a:off x="108394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٩ تفاسير أساسية من الطبري إلى المعاصرين</a:t>
            </a:r>
            <a:endParaRPr/>
          </a:p>
        </p:txBody>
      </p:sp>
      <p:sp>
        <p:nvSpPr>
          <p:cNvPr id="663" name="Google Shape;663;p18"/>
          <p:cNvSpPr txBox="1"/>
          <p:nvPr>
            <p:ph idx="14" type="body"/>
          </p:nvPr>
        </p:nvSpPr>
        <p:spPr>
          <a:xfrm>
            <a:off x="76962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664" name="Google Shape;664;p18"/>
          <p:cNvSpPr txBox="1"/>
          <p:nvPr>
            <p:ph idx="15" type="body"/>
          </p:nvPr>
        </p:nvSpPr>
        <p:spPr>
          <a:xfrm>
            <a:off x="76962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المفاهيم والظواهر</a:t>
            </a:r>
            <a:endParaRPr/>
          </a:p>
        </p:txBody>
      </p:sp>
      <p:sp>
        <p:nvSpPr>
          <p:cNvPr id="665" name="Google Shape;665;p18"/>
          <p:cNvSpPr txBox="1"/>
          <p:nvPr>
            <p:ph idx="16" type="body"/>
          </p:nvPr>
        </p:nvSpPr>
        <p:spPr>
          <a:xfrm>
            <a:off x="76962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خريطة تفاعلية</a:t>
            </a:r>
            <a:endParaRPr/>
          </a:p>
        </p:txBody>
      </p:sp>
      <p:sp>
        <p:nvSpPr>
          <p:cNvPr id="666" name="Google Shape;666;p18"/>
          <p:cNvSpPr txBox="1"/>
          <p:nvPr>
            <p:ph idx="17" type="body"/>
          </p:nvPr>
        </p:nvSpPr>
        <p:spPr>
          <a:xfrm>
            <a:off x="76962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ألفاظ الآية وموضوعاتها والمفاهيم القابلة للمقارنة</a:t>
            </a:r>
            <a:endParaRPr/>
          </a:p>
        </p:txBody>
      </p:sp>
      <p:sp>
        <p:nvSpPr>
          <p:cNvPr id="667" name="Google Shape;667;p18"/>
          <p:cNvSpPr txBox="1"/>
          <p:nvPr>
            <p:ph idx="18" type="body"/>
          </p:nvPr>
        </p:nvSpPr>
        <p:spPr>
          <a:xfrm>
            <a:off x="45529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668" name="Google Shape;668;p18"/>
          <p:cNvSpPr txBox="1"/>
          <p:nvPr>
            <p:ph idx="19" type="body"/>
          </p:nvPr>
        </p:nvSpPr>
        <p:spPr>
          <a:xfrm>
            <a:off x="45529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المعرفة العلمية</a:t>
            </a:r>
            <a:endParaRPr/>
          </a:p>
        </p:txBody>
      </p:sp>
      <p:sp>
        <p:nvSpPr>
          <p:cNvPr id="669" name="Google Shape;669;p18"/>
          <p:cNvSpPr txBox="1"/>
          <p:nvPr>
            <p:ph idx="20" type="body"/>
          </p:nvPr>
        </p:nvSpPr>
        <p:spPr>
          <a:xfrm>
            <a:off x="45529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اقتباس حرفي من المصدر</a:t>
            </a:r>
            <a:endParaRPr/>
          </a:p>
        </p:txBody>
      </p:sp>
      <p:sp>
        <p:nvSpPr>
          <p:cNvPr id="670" name="Google Shape;670;p18"/>
          <p:cNvSpPr txBox="1"/>
          <p:nvPr>
            <p:ph idx="21" type="body"/>
          </p:nvPr>
        </p:nvSpPr>
        <p:spPr>
          <a:xfrm>
            <a:off x="45529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NASA وNOAA وUSGS وMedlinePlus</a:t>
            </a:r>
            <a:endParaRPr/>
          </a:p>
        </p:txBody>
      </p:sp>
      <p:sp>
        <p:nvSpPr>
          <p:cNvPr id="671" name="Google Shape;671;p18"/>
          <p:cNvSpPr txBox="1"/>
          <p:nvPr>
            <p:ph idx="22" type="body"/>
          </p:nvPr>
        </p:nvSpPr>
        <p:spPr>
          <a:xfrm>
            <a:off x="1409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672" name="Google Shape;672;p18"/>
          <p:cNvSpPr txBox="1"/>
          <p:nvPr>
            <p:ph idx="23" type="body"/>
          </p:nvPr>
        </p:nvSpPr>
        <p:spPr>
          <a:xfrm>
            <a:off x="1409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</a:t>
            </a:r>
            <a:endParaRPr/>
          </a:p>
        </p:txBody>
      </p:sp>
      <p:sp>
        <p:nvSpPr>
          <p:cNvPr id="673" name="Google Shape;673;p18"/>
          <p:cNvSpPr txBox="1"/>
          <p:nvPr>
            <p:ph idx="24" type="body"/>
          </p:nvPr>
        </p:nvSpPr>
        <p:spPr>
          <a:xfrm>
            <a:off x="1409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باحث محايد</a:t>
            </a:r>
            <a:endParaRPr/>
          </a:p>
        </p:txBody>
      </p:sp>
      <p:sp>
        <p:nvSpPr>
          <p:cNvPr id="674" name="Google Shape;674;p18"/>
          <p:cNvSpPr txBox="1"/>
          <p:nvPr>
            <p:ph idx="25" type="body"/>
          </p:nvPr>
        </p:nvSpPr>
        <p:spPr>
          <a:xfrm>
            <a:off x="1409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يزن الأدلة، ولا يكتب تفسيرًا</a:t>
            </a:r>
            <a:endParaRPr/>
          </a:p>
        </p:txBody>
      </p:sp>
      <p:cxnSp>
        <p:nvCxnSpPr>
          <p:cNvPr id="675" name="Google Shape;675;p18"/>
          <p:cNvCxnSpPr/>
          <p:nvPr/>
        </p:nvCxnSpPr>
        <p:spPr>
          <a:xfrm rot="10800000">
            <a:off x="139923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676" name="Google Shape;676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77" name="Google Shape;677;p18"/>
          <p:cNvCxnSpPr/>
          <p:nvPr/>
        </p:nvCxnSpPr>
        <p:spPr>
          <a:xfrm rot="10800000">
            <a:off x="108300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8" name="Google Shape;678;p18"/>
          <p:cNvCxnSpPr/>
          <p:nvPr/>
        </p:nvCxnSpPr>
        <p:spPr>
          <a:xfrm rot="10800000">
            <a:off x="76677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18"/>
          <p:cNvCxnSpPr/>
          <p:nvPr/>
        </p:nvCxnSpPr>
        <p:spPr>
          <a:xfrm rot="10800000">
            <a:off x="45054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18"/>
          <p:cNvCxnSpPr/>
          <p:nvPr/>
        </p:nvCxnSpPr>
        <p:spPr>
          <a:xfrm rot="10800000">
            <a:off x="13431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المنصة اليوم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المصحف كاملًا، ومعرفة موثقة حوله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ما تحتويه المنصة عند التسليم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٦٢٣٦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آية في ١١٤ سورة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نص مصحف مجمع الملك فهد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٤٣٬٦٠٠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مدخل تفسير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٩ تفاسير أساسية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٥٦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معلومة علمية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طوبقت حرفيًا مع مصادرها، في ٤٣ آية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١٧٣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اختبارًا آليًا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ناجحًا عند التشغيل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المصدر: قاعدة بيانات آفاق ونتيجة تشغيل الاختبارات، أكتوبر ٢٠٢٦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69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0" name="Google Shape;57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71" name="Google Shape;571;p13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72" name="Google Shape;572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573" name="Google Shape;573;p13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المنصة</a:t>
            </a:r>
            <a:endParaRPr/>
          </a:p>
        </p:txBody>
      </p:sp>
      <p:sp>
        <p:nvSpPr>
          <p:cNvPr id="574" name="Google Shape;574;p13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الصفحة الرئيسية: ابحث، أو ابدأ بآية اليوم</a:t>
            </a:r>
            <a:endParaRPr/>
          </a:p>
        </p:txBody>
      </p:sp>
      <p:sp>
        <p:nvSpPr>
          <p:cNvPr id="575" name="Google Shape;575;p1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576" name="Google Shape;576;p13" descr="home_full.png"/>
          <p:cNvPicPr>
            <a:picLocks noGrp="1" noChangeAspect="1"/>
          </p:cNvPicPr>
          <p:nvPr>
            <p:ph idx="2" type="pic"/>
          </p:nvPr>
        </p:nvPicPr>
        <p:blipFill>
          <a:blip r:embed="rId5"/>
          <a:srcRect b="21437"/>
          <a:stretch>
            <a:fillRect/>
          </a:stretch>
        </p:blipFill>
        <p:spPr>
          <a:xfrm>
            <a:off x="1428750" y="4048125"/>
            <a:ext cx="8382000" cy="4714800"/>
          </a:xfrm>
        </p:spPr>
      </p:pic>
      <p:sp>
        <p:nvSpPr>
          <p:cNvPr id="577" name="Google Shape;577;p13"/>
          <p:cNvSpPr txBox="1"/>
          <p:nvPr>
            <p:ph idx="3" type="body"/>
          </p:nvPr>
        </p:nvSpPr>
        <p:spPr>
          <a:xfrm>
            <a:off x="10458450" y="4095750"/>
            <a:ext cx="6381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بداية واحدة</a:t>
            </a:r>
            <a:endParaRPr/>
          </a:p>
        </p:txBody>
      </p:sp>
      <p:sp>
        <p:nvSpPr>
          <p:cNvPr id="578" name="Google Shape;578;p13"/>
          <p:cNvSpPr txBox="1"/>
          <p:nvPr>
            <p:ph idx="4" type="body"/>
          </p:nvPr>
        </p:nvSpPr>
        <p:spPr>
          <a:xfrm>
            <a:off x="10458450" y="4800600"/>
            <a:ext cx="6381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مربع بحث لجزء من الآية أو لموضوع، وآية يومية من الآيات الموثقة علميًا بخط المصحف.</a:t>
            </a:r>
            <a:endParaRPr/>
          </a:p>
        </p:txBody>
      </p:sp>
      <p:sp>
        <p:nvSpPr>
          <p:cNvPr id="579" name="Google Shape;579;p13"/>
          <p:cNvSpPr txBox="1"/>
          <p:nvPr>
            <p:ph idx="5" type="body"/>
          </p:nvPr>
        </p:nvSpPr>
        <p:spPr>
          <a:xfrm>
            <a:off x="10458450" y="6667500"/>
            <a:ext cx="6381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أربعة أقسام</a:t>
            </a:r>
            <a:endParaRPr/>
          </a:p>
        </p:txBody>
      </p:sp>
      <p:sp>
        <p:nvSpPr>
          <p:cNvPr id="580" name="Google Shape;580;p13"/>
          <p:cNvSpPr txBox="1"/>
          <p:nvPr>
            <p:ph idx="6" type="body"/>
          </p:nvPr>
        </p:nvSpPr>
        <p:spPr>
          <a:xfrm>
            <a:off x="10458450" y="7372350"/>
            <a:ext cx="6381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بحث جديد، وسجل البحث، والقرآن الكريم، والذكاء الاصطناعي في الإعجاز العلمي.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69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0" name="Google Shape;57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71" name="Google Shape;571;p13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72" name="Google Shape;572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573" name="Google Shape;573;p13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المنصة</a:t>
            </a:r>
            <a:endParaRPr/>
          </a:p>
        </p:txBody>
      </p:sp>
      <p:sp>
        <p:nvSpPr>
          <p:cNvPr id="574" name="Google Shape;574;p13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تصفّح المصحف كاملًا صفحةً صفحة</a:t>
            </a:r>
            <a:endParaRPr/>
          </a:p>
        </p:txBody>
      </p:sp>
      <p:sp>
        <p:nvSpPr>
          <p:cNvPr id="575" name="Google Shape;575;p1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576" name="Google Shape;576;p13" descr="quranpanel.png"/>
          <p:cNvPicPr>
            <a:picLocks noGrp="1" noChangeAspect="1"/>
          </p:cNvPicPr>
          <p:nvPr>
            <p:ph idx="2" type="pic"/>
          </p:nvPr>
        </p:nvPicPr>
        <p:blipFill>
          <a:blip r:embed="rId2"/>
          <a:srcRect t="10001"/>
          <a:stretch>
            <a:fillRect/>
          </a:stretch>
        </p:blipFill>
        <p:spPr>
          <a:xfrm>
            <a:off x="1428750" y="4048125"/>
            <a:ext cx="8382000" cy="4714800"/>
          </a:xfrm>
        </p:spPr>
      </p:pic>
      <p:sp>
        <p:nvSpPr>
          <p:cNvPr id="577" name="Google Shape;577;p13"/>
          <p:cNvSpPr txBox="1"/>
          <p:nvPr>
            <p:ph idx="3" type="body"/>
          </p:nvPr>
        </p:nvSpPr>
        <p:spPr>
          <a:xfrm>
            <a:off x="10458450" y="4095750"/>
            <a:ext cx="6381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٦٠٤ صفحات</a:t>
            </a:r>
            <a:endParaRPr/>
          </a:p>
        </p:txBody>
      </p:sp>
      <p:sp>
        <p:nvSpPr>
          <p:cNvPr id="578" name="Google Shape;578;p13"/>
          <p:cNvSpPr txBox="1"/>
          <p:nvPr>
            <p:ph idx="4" type="body"/>
          </p:nvPr>
        </p:nvSpPr>
        <p:spPr>
          <a:xfrm>
            <a:off x="10458450" y="4800600"/>
            <a:ext cx="6381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كما في مصحف المدينة النبوية، مع فهرس السور والأجزاء.</a:t>
            </a:r>
            <a:endParaRPr/>
          </a:p>
        </p:txBody>
      </p:sp>
      <p:sp>
        <p:nvSpPr>
          <p:cNvPr id="579" name="Google Shape;579;p13"/>
          <p:cNvSpPr txBox="1"/>
          <p:nvPr>
            <p:ph idx="5" type="body"/>
          </p:nvPr>
        </p:nvSpPr>
        <p:spPr>
          <a:xfrm>
            <a:off x="10458450" y="6667500"/>
            <a:ext cx="6381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من الآية إلى معرفتها</a:t>
            </a:r>
            <a:endParaRPr/>
          </a:p>
        </p:txBody>
      </p:sp>
      <p:sp>
        <p:nvSpPr>
          <p:cNvPr id="580" name="Google Shape;580;p13"/>
          <p:cNvSpPr txBox="1"/>
          <p:nvPr>
            <p:ph idx="6" type="body"/>
          </p:nvPr>
        </p:nvSpPr>
        <p:spPr>
          <a:xfrm>
            <a:off x="10458450" y="7372350"/>
            <a:ext cx="6381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الضغط على أي آية يفتح تفسيرها والمعرفة العلمية المتصلة بها.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69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0" name="Google Shape;57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71" name="Google Shape;571;p13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72" name="Google Shape;572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573" name="Google Shape;573;p13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المنصة</a:t>
            </a:r>
            <a:endParaRPr/>
          </a:p>
        </p:txBody>
      </p:sp>
      <p:sp>
        <p:nvSpPr>
          <p:cNvPr id="574" name="Google Shape;574;p13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البحث بجزء من الآية أو بالموضوع</a:t>
            </a:r>
            <a:endParaRPr/>
          </a:p>
        </p:txBody>
      </p:sp>
      <p:sp>
        <p:nvSpPr>
          <p:cNvPr id="575" name="Google Shape;575;p1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576" name="Google Shape;576;p13" descr="search.png"/>
          <p:cNvPicPr>
            <a:picLocks noGrp="1" noChangeAspect="1"/>
          </p:cNvPicPr>
          <p:nvPr>
            <p:ph idx="2" type="pic"/>
          </p:nvPr>
        </p:nvPicPr>
        <p:blipFill>
          <a:blip r:embed="rId2"/>
          <a:srcRect b="10001"/>
          <a:stretch>
            <a:fillRect/>
          </a:stretch>
        </p:blipFill>
        <p:spPr>
          <a:xfrm>
            <a:off x="1428750" y="4048125"/>
            <a:ext cx="8382000" cy="4714800"/>
          </a:xfrm>
        </p:spPr>
      </p:pic>
      <p:sp>
        <p:nvSpPr>
          <p:cNvPr id="577" name="Google Shape;577;p13"/>
          <p:cNvSpPr txBox="1"/>
          <p:nvPr>
            <p:ph idx="3" type="body"/>
          </p:nvPr>
        </p:nvSpPr>
        <p:spPr>
          <a:xfrm>
            <a:off x="10458450" y="4095750"/>
            <a:ext cx="6381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لا يتأثر بالتشكيل ولا بالرسم</a:t>
            </a:r>
            <a:endParaRPr/>
          </a:p>
        </p:txBody>
      </p:sp>
      <p:sp>
        <p:nvSpPr>
          <p:cNvPr id="578" name="Google Shape;578;p13"/>
          <p:cNvSpPr txBox="1"/>
          <p:nvPr>
            <p:ph idx="4" type="body"/>
          </p:nvPr>
        </p:nvSpPr>
        <p:spPr>
          <a:xfrm>
            <a:off x="10458450" y="4800600"/>
            <a:ext cx="6381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«الصلاة» و«الصلوة» و«ٱلصَّلَوٰةَ» تجد الآيات نفسها.</a:t>
            </a:r>
            <a:endParaRPr/>
          </a:p>
        </p:txBody>
      </p:sp>
      <p:sp>
        <p:nvSpPr>
          <p:cNvPr id="579" name="Google Shape;579;p13"/>
          <p:cNvSpPr txBox="1"/>
          <p:nvPr>
            <p:ph idx="5" type="body"/>
          </p:nvPr>
        </p:nvSpPr>
        <p:spPr>
          <a:xfrm>
            <a:off x="10458450" y="6667500"/>
            <a:ext cx="6381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كل نتيجة تذكر سببها</a:t>
            </a:r>
            <a:endParaRPr/>
          </a:p>
        </p:txBody>
      </p:sp>
      <p:sp>
        <p:nvSpPr>
          <p:cNvPr id="580" name="Google Shape;580;p13"/>
          <p:cNvSpPr txBox="1"/>
          <p:nvPr>
            <p:ph idx="6" type="body"/>
          </p:nvPr>
        </p:nvSpPr>
        <p:spPr>
          <a:xfrm>
            <a:off x="10458450" y="7372350"/>
            <a:ext cx="6381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موضوع في Quranpedia، أو مرادف، أو مقال، أو تفسير.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34" name="Google Shape;834;p25" descr="verse_top.png"/>
          <p:cNvPicPr>
            <a:picLocks noGrp="1" noChangeAspect="1"/>
          </p:cNvPicPr>
          <p:nvPr>
            <p:ph idx="2" type="pic"/>
          </p:nvPr>
        </p:nvPicPr>
        <p:blipFill>
          <a:blip r:embed="rId4"/>
          <a:srcRect b="31293"/>
          <a:stretch>
            <a:fillRect/>
          </a:stretch>
        </p:blipFill>
        <p:spPr>
          <a:xfrm>
            <a:off x="1047750" y="666750"/>
            <a:ext cx="16192500" cy="6953400"/>
          </a:xfrm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صفحة الآية: الآية أولًا، ثم طبقاتها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سورة النور، الآية ٤٠ — نص مصحف مجمع الملك فهد، وشريط الطبقات الخمس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1" name="Shape 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2" name="Google Shape;842;p26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43" name="Google Shape;843;p26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الطبقات</a:t>
            </a:r>
            <a:endParaRPr/>
          </a:p>
        </p:txBody>
      </p:sp>
      <p:sp>
        <p:nvSpPr>
          <p:cNvPr id="844" name="Google Shape;844;p26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اللغة والتفسير والمعرفة العلمية</a:t>
            </a:r>
            <a:endParaRPr/>
          </a:p>
        </p:txBody>
      </p:sp>
      <p:sp>
        <p:nvSpPr>
          <p:cNvPr id="845" name="Google Shape;845;p2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46" name="Google Shape;846;p26" descr="el_language.png"/>
          <p:cNvPicPr>
            <a:picLocks noGrp="1" noChangeAspect="1"/>
          </p:cNvPicPr>
          <p:nvPr>
            <p:ph idx="2" type="pic"/>
          </p:nvPr>
        </p:nvPicPr>
        <p:blipFill>
          <a:blip r:embed="rId5"/>
          <a:srcRect b="44998"/>
          <a:stretch>
            <a:fillRect/>
          </a:stretch>
        </p:blipFill>
        <p:spPr>
          <a:xfrm>
            <a:off x="12077700" y="3714750"/>
            <a:ext cx="4762500" cy="4286400"/>
          </a:xfrm>
        </p:spPr>
      </p:pic>
      <p:sp>
        <p:nvSpPr>
          <p:cNvPr id="847" name="Google Shape;847;p26"/>
          <p:cNvSpPr txBox="1"/>
          <p:nvPr>
            <p:ph idx="3" type="body"/>
          </p:nvPr>
        </p:nvSpPr>
        <p:spPr>
          <a:xfrm>
            <a:off x="12115800" y="8334375"/>
            <a:ext cx="4762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التحليل اللغوي: الصرف والغريب والإعراب</a:t>
            </a:r>
            <a:endParaRPr/>
          </a:p>
        </p:txBody>
      </p:sp>
      <p:sp>
        <p:nvSpPr>
          <p:cNvPr id="848" name="Google Shape;848;p26"/>
          <p:cNvSpPr txBox="1"/>
          <p:nvPr>
            <p:ph idx="5" type="body"/>
          </p:nvPr>
        </p:nvSpPr>
        <p:spPr>
          <a:xfrm>
            <a:off x="6762750" y="8334375"/>
            <a:ext cx="4762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التفسير عبر العصور بسنة وفاة المفسّر</a:t>
            </a:r>
            <a:endParaRPr/>
          </a:p>
        </p:txBody>
      </p:sp>
      <p:sp>
        <p:nvSpPr>
          <p:cNvPr id="849" name="Google Shape;849;p26"/>
          <p:cNvSpPr txBox="1"/>
          <p:nvPr>
            <p:ph idx="7" type="body"/>
          </p:nvPr>
        </p:nvSpPr>
        <p:spPr>
          <a:xfrm>
            <a:off x="1409700" y="8334375"/>
            <a:ext cx="4762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معرفة علمية باقتباس حرفي من مصدرها</a:t>
            </a:r>
            <a:endParaRPr/>
          </a:p>
        </p:txBody>
      </p:sp>
      <p:pic>
        <p:nvPicPr>
          <p:cNvPr id="850" name="Google Shape;850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1" name="Google Shape;851;p26" descr="el_tafsir.png"/>
          <p:cNvPicPr>
            <a:picLocks noGrp="1" noChangeAspect="1"/>
          </p:cNvPicPr>
          <p:nvPr>
            <p:ph idx="2" type="pic"/>
          </p:nvPr>
        </p:nvPicPr>
        <p:blipFill>
          <a:blip r:embed="rId6"/>
          <a:srcRect b="56813"/>
          <a:stretch>
            <a:fillRect/>
          </a:stretch>
        </p:blipFill>
        <p:spPr>
          <a:xfrm>
            <a:off x="6743700" y="3714675"/>
            <a:ext cx="4762500" cy="4286400"/>
          </a:xfrm>
        </p:spPr>
      </p:pic>
      <p:pic>
        <p:nvPicPr>
          <p:cNvPr id="852" name="Google Shape;852;p26" descr="el_science.png"/>
          <p:cNvPicPr>
            <a:picLocks noGrp="1" noChangeAspect="1"/>
          </p:cNvPicPr>
          <p:nvPr>
            <p:ph idx="2" type="pic"/>
          </p:nvPr>
        </p:nvPicPr>
        <p:blipFill>
          <a:blip r:embed="rId7"/>
          <a:srcRect t="18000" b="51409"/>
          <a:stretch>
            <a:fillRect/>
          </a:stretch>
        </p:blipFill>
        <p:spPr>
          <a:xfrm>
            <a:off x="1409700" y="3714750"/>
            <a:ext cx="4762500" cy="4286400"/>
          </a:xfr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6" name="Google Shape;586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87" name="Google Shape;587;p14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88" name="Google Shape;588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589" name="Google Shape;589;p1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الطبقات</a:t>
            </a:r>
            <a:endParaRPr/>
          </a:p>
        </p:txBody>
      </p:sp>
      <p:sp>
        <p:nvSpPr>
          <p:cNvPr id="590" name="Google Shape;590;p1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خريطة المفاهيم</a:t>
            </a:r>
            <a:endParaRPr/>
          </a:p>
        </p:txBody>
      </p:sp>
      <p:sp>
        <p:nvSpPr>
          <p:cNvPr id="591" name="Google Shape;591;p1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592" name="Google Shape;592;p14" descr="el_concepts.png"/>
          <p:cNvPicPr>
            <a:picLocks noGrp="1" noChangeAspect="1"/>
          </p:cNvPicPr>
          <p:nvPr>
            <p:ph idx="2" type="pic"/>
          </p:nvPr>
        </p:nvPicPr>
        <p:blipFill>
          <a:blip r:embed="rId5"/>
          <a:srcRect t="9000" b="33472"/>
          <a:stretch>
            <a:fillRect/>
          </a:stretch>
        </p:blipFill>
        <p:spPr>
          <a:xfrm>
            <a:off x="2190750" y="2999025"/>
            <a:ext cx="5715000" cy="5715000"/>
          </a:xfrm>
        </p:spPr>
      </p:pic>
      <p:sp>
        <p:nvSpPr>
          <p:cNvPr id="593" name="Google Shape;593;p14"/>
          <p:cNvSpPr txBox="1"/>
          <p:nvPr>
            <p:ph idx="3" type="body"/>
          </p:nvPr>
        </p:nvSpPr>
        <p:spPr>
          <a:xfrm>
            <a:off x="9696450" y="3905250"/>
            <a:ext cx="71439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50"/>
              <a:buNone/>
            </a:pPr>
            <a:r>
              <a:rPr b="1" lang="ar-SA" sz="34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الآية في المركز، وحولها ألفاظها وموضوعاتها</a:t>
            </a:r>
            <a:endParaRPr/>
          </a:p>
        </p:txBody>
      </p:sp>
      <p:sp>
        <p:nvSpPr>
          <p:cNvPr id="594" name="Google Shape;594;p14"/>
          <p:cNvSpPr txBox="1"/>
          <p:nvPr>
            <p:ph idx="4" type="body"/>
          </p:nvPr>
        </p:nvSpPr>
        <p:spPr>
          <a:xfrm>
            <a:off x="9696450" y="5191125"/>
            <a:ext cx="7143900" cy="203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>
                <a:solidFill>
                  <a:srgbClr val="F2F4FF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ثم المفاهيم العلمية القابلة للمقارنة، متصلة بخط متقطع «ارتباط محتمل». لون إطار كل عقدة هو فئة ثقتها، والضغط على لفظ يعرض معناه عند أهل الغريب أولًا.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595" name="Google Shape;595;p14"/>
          <p:cNvSpPr txBox="1"/>
          <p:nvPr>
            <p:ph idx="5" type="body"/>
          </p:nvPr>
        </p:nvSpPr>
        <p:spPr>
          <a:xfrm>
            <a:off x="9696450" y="8048625"/>
            <a:ext cx="71439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50"/>
              <a:buNone/>
            </a:pPr>
            <a:r>
              <a:rPr b="0" lang="ar-SA" sz="19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سورة النور، الآية ٤٠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15435072" cy="3401568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4279392"/>
                <a:gridCol w="4754880"/>
                <a:gridCol w="3657600"/>
                <a:gridCol w="2743200"/>
              </a:tblGrid>
              <a:tr h="566928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القاعدة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يُعرض معها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المعنى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الفئة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محفوظ حرفيًا، لا يُولَّد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مصدر النص: مجمع الملك فهد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النص الأصلي للآية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قرآني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 يُنسب قول بلا 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الكتاب والمؤلف ورقم الصفحة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قول المفسّر مع مصدره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تفسير موثّق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جهات علمية رسمية فقط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رابط واقتباس حرفي وتاريخ التحقق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معرفة من مرجع رسمي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حقيقة علمية مثبتة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التشابه لا يجعله تفسيرًا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«مسودة» حتى يعتمدها باحث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قراءة معاصرة، ليست تفسيرًا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ارتباط محتمل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 يُعرض على أنه حقيقة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تنبيه صريح للقارئ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لم يثبت بمصدر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ادعاء غير موثّق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الثقة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طبقة الثقة: نوع المعلومة قبل الاعتماد عليها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كل عنصر يُعرض بإحدى خمس فئات، ولا يُرفع إلى فئة أعلى بصمت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0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1" name="Google Shape;881;p28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2" name="Google Shape;882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83" name="Google Shape;883;p2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</a:t>
            </a:r>
            <a:endParaRPr/>
          </a:p>
        </p:txBody>
      </p:sp>
      <p:sp>
        <p:nvSpPr>
          <p:cNvPr id="884" name="Google Shape;884;p2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ذكاء اصطناعي مسؤول</a:t>
            </a:r>
            <a:endParaRPr/>
          </a:p>
        </p:txBody>
      </p:sp>
      <p:sp>
        <p:nvSpPr>
          <p:cNvPr id="885" name="Google Shape;885;p2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باحث محايد يبدأ من سؤال لا من نتيجة، و«لا يوجد إعجاز مثبت» نتيجة مقبولة</a:t>
            </a:r>
            <a:endParaRPr/>
          </a:p>
        </p:txBody>
      </p:sp>
      <p:sp>
        <p:nvSpPr>
          <p:cNvPr id="886" name="Google Shape;886;p2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87" name="Google Shape;887;p28"/>
          <p:cNvSpPr txBox="1"/>
          <p:nvPr>
            <p:ph idx="3" type="body"/>
          </p:nvPr>
        </p:nvSpPr>
        <p:spPr>
          <a:xfrm>
            <a:off x="9696450" y="3857625"/>
            <a:ext cx="7143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ما يفعله</a:t>
            </a:r>
            <a:endParaRPr/>
          </a:p>
        </p:txBody>
      </p:sp>
      <p:sp>
        <p:nvSpPr>
          <p:cNvPr id="888" name="Google Shape;888;p28"/>
          <p:cNvSpPr txBox="1"/>
          <p:nvPr>
            <p:ph idx="4" type="body"/>
          </p:nvPr>
        </p:nvSpPr>
        <p:spPr>
          <a:xfrm>
            <a:off x="9696450" y="4562475"/>
            <a:ext cx="7143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يساعد على البحث والاستخراج والتلخيص، ويزن الأدلة</a:t>
            </a:r>
            <a:endParaRPr/>
          </a:p>
        </p:txBody>
      </p:sp>
      <p:sp>
        <p:nvSpPr>
          <p:cNvPr id="889" name="Google Shape;889;p28"/>
          <p:cNvSpPr txBox="1"/>
          <p:nvPr>
            <p:ph idx="5" type="body"/>
          </p:nvPr>
        </p:nvSpPr>
        <p:spPr>
          <a:xfrm>
            <a:off x="1409700" y="3857625"/>
            <a:ext cx="7143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ما لا يفعله</a:t>
            </a:r>
            <a:endParaRPr/>
          </a:p>
        </p:txBody>
      </p:sp>
      <p:sp>
        <p:nvSpPr>
          <p:cNvPr id="890" name="Google Shape;890;p28"/>
          <p:cNvSpPr txBox="1"/>
          <p:nvPr>
            <p:ph idx="6" type="body"/>
          </p:nvPr>
        </p:nvSpPr>
        <p:spPr>
          <a:xfrm>
            <a:off x="1409700" y="4562475"/>
            <a:ext cx="7143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لا يكتب تفسيرًا مستقلًا، ولا يُصدر حكمًا</a:t>
            </a:r>
            <a:endParaRPr/>
          </a:p>
        </p:txBody>
      </p:sp>
      <p:sp>
        <p:nvSpPr>
          <p:cNvPr id="891" name="Google Shape;891;p28"/>
          <p:cNvSpPr txBox="1"/>
          <p:nvPr>
            <p:ph idx="7" type="body"/>
          </p:nvPr>
        </p:nvSpPr>
        <p:spPr>
          <a:xfrm>
            <a:off x="9696450" y="5905500"/>
            <a:ext cx="7143900" cy="295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يفهم الآية من مصادر آفاق المخزنة</a:t>
            </a:r>
            <a:endParaRPr/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endParaRPr/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يبحث عن الظاهرة نفسها، ويجمع الأدلة المؤيدة والمعارضة</a:t>
            </a:r>
            <a:endParaRPr/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endParaRPr/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يحكم بسبعة مستويات، من «قوي جدًا» إلى «لا ادعاء»</a:t>
            </a:r>
            <a:endParaRPr/>
          </a:p>
        </p:txBody>
      </p:sp>
      <p:sp>
        <p:nvSpPr>
          <p:cNvPr id="892" name="Google Shape;892;p28"/>
          <p:cNvSpPr txBox="1"/>
          <p:nvPr>
            <p:ph idx="8" type="body"/>
          </p:nvPr>
        </p:nvSpPr>
        <p:spPr>
          <a:xfrm>
            <a:off x="1409700" y="5905500"/>
            <a:ext cx="7143900" cy="295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لا ينسب لمفسّر قولًا ليس في المصادر</a:t>
            </a:r>
            <a:endParaRPr/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endParaRPr/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لا يعرض رابطًا علميًا لم يُعده بحث الويب فعلًا</a:t>
            </a:r>
            <a:endParaRPr/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endParaRPr/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تقريره «ادعاء غير موثّق» حتى يراجعه باحث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</a:t>
            </a:r>
            <a:endParaRPr/>
          </a:p>
        </p:txBody>
      </p:sp>
      <p:sp>
        <p:nvSpPr>
          <p:cNvPr id="861" name="Google Shape;861;p2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ضوابط تُفرض في الكود، لا في التعليمات فقط</a:t>
            </a:r>
            <a:endParaRPr/>
          </a:p>
        </p:txBody>
      </p:sp>
      <p:sp>
        <p:nvSpPr>
          <p:cNvPr id="862" name="Google Shape;862;p2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يفحص آفاق كل تقرير قبل عرضه</a:t>
            </a:r>
            <a:endParaRPr/>
          </a:p>
        </p:txBody>
      </p:sp>
      <p:sp>
        <p:nvSpPr>
          <p:cNvPr id="863" name="Google Shape;863;p2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64" name="Google Shape;864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4458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p27"/>
          <p:cNvSpPr txBox="1"/>
          <p:nvPr>
            <p:ph idx="3" type="body"/>
          </p:nvPr>
        </p:nvSpPr>
        <p:spPr>
          <a:xfrm>
            <a:off x="13411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المصادر القرآنية</a:t>
            </a:r>
            <a:endParaRPr/>
          </a:p>
        </p:txBody>
      </p:sp>
      <p:sp>
        <p:nvSpPr>
          <p:cNvPr id="866" name="Google Shape;866;p27"/>
          <p:cNvSpPr txBox="1"/>
          <p:nvPr>
            <p:ph idx="4" type="body"/>
          </p:nvPr>
        </p:nvSpPr>
        <p:spPr>
          <a:xfrm>
            <a:off x="13411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تُقبل فقط من حزمة المصادر المرسلة</a:t>
            </a:r>
            <a:endParaRPr/>
          </a:p>
        </p:txBody>
      </p:sp>
      <p:pic>
        <p:nvPicPr>
          <p:cNvPr id="867" name="Google Shape;867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458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27"/>
          <p:cNvSpPr txBox="1"/>
          <p:nvPr>
            <p:ph idx="5" type="body"/>
          </p:nvPr>
        </p:nvSpPr>
        <p:spPr>
          <a:xfrm>
            <a:off x="9410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الروابط العلمية</a:t>
            </a:r>
            <a:endParaRPr/>
          </a:p>
        </p:txBody>
      </p:sp>
      <p:sp>
        <p:nvSpPr>
          <p:cNvPr id="869" name="Google Shape;869;p27"/>
          <p:cNvSpPr txBox="1"/>
          <p:nvPr>
            <p:ph idx="6" type="body"/>
          </p:nvPr>
        </p:nvSpPr>
        <p:spPr>
          <a:xfrm>
            <a:off x="9410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يُحذف كل رابط لم يُعده بحث الويب</a:t>
            </a:r>
            <a:endParaRPr/>
          </a:p>
        </p:txBody>
      </p:sp>
      <p:pic>
        <p:nvPicPr>
          <p:cNvPr id="870" name="Google Shape;870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457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27"/>
          <p:cNvSpPr txBox="1"/>
          <p:nvPr>
            <p:ph idx="7" type="body"/>
          </p:nvPr>
        </p:nvSpPr>
        <p:spPr>
          <a:xfrm>
            <a:off x="5410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التقييم</a:t>
            </a:r>
            <a:endParaRPr/>
          </a:p>
        </p:txBody>
      </p:sp>
      <p:sp>
        <p:nvSpPr>
          <p:cNvPr id="872" name="Google Shape;872;p27"/>
          <p:cNvSpPr txBox="1"/>
          <p:nvPr>
            <p:ph idx="8" type="body"/>
          </p:nvPr>
        </p:nvSpPr>
        <p:spPr>
          <a:xfrm>
            <a:off x="5410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«قوي» بلا مصدر متحقق يُخفَّض إلى «ممكن»</a:t>
            </a:r>
            <a:endParaRPr/>
          </a:p>
        </p:txBody>
      </p:sp>
      <p:pic>
        <p:nvPicPr>
          <p:cNvPr id="873" name="Google Shape;873;p2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457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27"/>
          <p:cNvSpPr txBox="1"/>
          <p:nvPr>
            <p:ph idx="9" type="body"/>
          </p:nvPr>
        </p:nvSpPr>
        <p:spPr>
          <a:xfrm>
            <a:off x="1409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التكلفة</a:t>
            </a:r>
            <a:endParaRPr/>
          </a:p>
        </p:txBody>
      </p:sp>
      <p:sp>
        <p:nvSpPr>
          <p:cNvPr id="875" name="Google Shape;875;p27"/>
          <p:cNvSpPr txBox="1"/>
          <p:nvPr>
            <p:ph idx="13" type="body"/>
          </p:nvPr>
        </p:nvSpPr>
        <p:spPr>
          <a:xfrm>
            <a:off x="1409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حد لكل قارئ في الساعة، وللموقع في اليوم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التقنية</a:t>
            </a:r>
            <a:endParaRPr/>
          </a:p>
        </p:txBody>
      </p:sp>
      <p:sp>
        <p:nvSpPr>
          <p:cNvPr id="819" name="Google Shape;819;p2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من المصادر الرسمية إلى الشاشة</a:t>
            </a:r>
            <a:endParaRPr/>
          </a:p>
        </p:txBody>
      </p:sp>
      <p:sp>
        <p:nvSpPr>
          <p:cNvPr id="820" name="Google Shape;820;p24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تسلسل العمل من المدخلات إلى المستخدم</a:t>
            </a:r>
            <a:endParaRPr/>
          </a:p>
        </p:txBody>
      </p:sp>
      <p:sp>
        <p:nvSpPr>
          <p:cNvPr id="821" name="Google Shape;821;p2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22" name="Google Shape;822;p24"/>
          <p:cNvSpPr/>
          <p:nvPr/>
        </p:nvSpPr>
        <p:spPr>
          <a:xfrm>
            <a:off x="13716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67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المصادر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مجمع الملك فهد وQuranpedia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وجهات علمية رسمية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1"/>
          </a:p>
        </p:txBody>
      </p:sp>
      <p:sp>
        <p:nvSpPr>
          <p:cNvPr id="823" name="Google Shape;823;p24"/>
          <p:cNvSpPr/>
          <p:nvPr/>
        </p:nvSpPr>
        <p:spPr>
          <a:xfrm>
            <a:off x="9715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الاستيراد والتحقق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استيراد يحترم التراخيص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ومطابقة الاقتباسات آليًا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4" name="Google Shape;824;p24"/>
          <p:cNvSpPr/>
          <p:nvPr/>
        </p:nvSpPr>
        <p:spPr>
          <a:xfrm>
            <a:off x="5715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125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الخادم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PostgreSQL وFastAPI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والباحث بالذكاء الاصطناعي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5" name="Google Shape;825;p24"/>
          <p:cNvSpPr/>
          <p:nvPr/>
        </p:nvSpPr>
        <p:spPr>
          <a:xfrm>
            <a:off x="1714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الواجهة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Next.js بواجهة عربية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تنتهي دائمًا بالمصدر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1" name="Shape 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2" name="Google Shape;842;p26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43" name="Google Shape;843;p26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التجربة</a:t>
            </a:r>
            <a:endParaRPr/>
          </a:p>
        </p:txBody>
      </p:sp>
      <p:sp>
        <p:nvSpPr>
          <p:cNvPr id="844" name="Google Shape;844;p26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عربية بسيطة، على الحاسوب والجوال</a:t>
            </a:r>
            <a:endParaRPr/>
          </a:p>
        </p:txBody>
      </p:sp>
      <p:sp>
        <p:nvSpPr>
          <p:cNvPr id="845" name="Google Shape;845;p2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46" name="Google Shape;846;p26" descr="home_mobile.png"/>
          <p:cNvPicPr>
            <a:picLocks noGrp="1" noChangeAspect="1"/>
          </p:cNvPicPr>
          <p:nvPr>
            <p:ph idx="2" type="pic"/>
          </p:nvPr>
        </p:nvPicPr>
        <p:blipFill>
          <a:blip r:embed="rId2"/>
          <a:srcRect t="32000" b="26411"/>
          <a:stretch>
            <a:fillRect/>
          </a:stretch>
        </p:blipFill>
        <p:spPr>
          <a:xfrm>
            <a:off x="12077700" y="3714750"/>
            <a:ext cx="4762500" cy="4286400"/>
          </a:xfrm>
        </p:spPr>
      </p:pic>
      <p:sp>
        <p:nvSpPr>
          <p:cNvPr id="847" name="Google Shape;847;p26"/>
          <p:cNvSpPr txBox="1"/>
          <p:nvPr>
            <p:ph idx="3" type="body"/>
          </p:nvPr>
        </p:nvSpPr>
        <p:spPr>
          <a:xfrm>
            <a:off x="12115800" y="8334375"/>
            <a:ext cx="4762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الرئيسية وآية اليوم</a:t>
            </a:r>
            <a:endParaRPr/>
          </a:p>
        </p:txBody>
      </p:sp>
      <p:sp>
        <p:nvSpPr>
          <p:cNvPr id="848" name="Google Shape;848;p26"/>
          <p:cNvSpPr txBox="1"/>
          <p:nvPr>
            <p:ph idx="5" type="body"/>
          </p:nvPr>
        </p:nvSpPr>
        <p:spPr>
          <a:xfrm>
            <a:off x="6762750" y="8334375"/>
            <a:ext cx="4762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صفحة الآية: الآية أولًا</a:t>
            </a:r>
            <a:endParaRPr/>
          </a:p>
        </p:txBody>
      </p:sp>
      <p:sp>
        <p:nvSpPr>
          <p:cNvPr id="849" name="Google Shape;849;p26"/>
          <p:cNvSpPr txBox="1"/>
          <p:nvPr>
            <p:ph idx="7" type="body"/>
          </p:nvPr>
        </p:nvSpPr>
        <p:spPr>
          <a:xfrm>
            <a:off x="1409700" y="8334375"/>
            <a:ext cx="4762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المصحف على الجوال</a:t>
            </a:r>
            <a:endParaRPr/>
          </a:p>
        </p:txBody>
      </p:sp>
      <p:pic>
        <p:nvPicPr>
          <p:cNvPr id="850" name="Google Shape;850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1" name="Google Shape;851;p26" descr="mobile.png"/>
          <p:cNvPicPr>
            <a:picLocks noGrp="1" noChangeAspect="1"/>
          </p:cNvPicPr>
          <p:nvPr>
            <p:ph idx="2" type="pic"/>
          </p:nvPr>
        </p:nvPicPr>
        <p:blipFill>
          <a:blip r:embed="rId5"/>
          <a:srcRect t="45000" b="13411"/>
          <a:stretch>
            <a:fillRect/>
          </a:stretch>
        </p:blipFill>
        <p:spPr>
          <a:xfrm>
            <a:off x="6743700" y="3714675"/>
            <a:ext cx="4762500" cy="4286400"/>
          </a:xfrm>
        </p:spPr>
      </p:pic>
      <p:pic>
        <p:nvPicPr>
          <p:cNvPr id="852" name="Google Shape;852;p26" descr="quran_mobile.png"/>
          <p:cNvPicPr>
            <a:picLocks noGrp="1" noChangeAspect="1"/>
          </p:cNvPicPr>
          <p:nvPr>
            <p:ph idx="2" type="pic"/>
          </p:nvPr>
        </p:nvPicPr>
        <p:blipFill>
          <a:blip r:embed="rId6"/>
          <a:srcRect t="12000" b="46411"/>
          <a:stretch>
            <a:fillRect/>
          </a:stretch>
        </p:blipFill>
        <p:spPr>
          <a:xfrm>
            <a:off x="1409700" y="3714750"/>
            <a:ext cx="4762500" cy="4286400"/>
          </a:xfr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التنفيذ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خطة التنفيذ: ثلاثة أيام، وتسليم واحد مكتمل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الأحد ٤ إلى الثلاثاء ٦ أكتوبر ٢٠٢٦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643" name="Google Shape;643;p17"/>
          <p:cNvGraphicFramePr/>
          <p:nvPr/>
        </p:nvGraphicFramePr>
        <p:xfrm>
          <a:off x="1314450" y="3905250"/>
          <a:ext cx="15435072" cy="2267712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1627632"/>
                <a:gridCol w="7589520"/>
                <a:gridCol w="3474720"/>
                <a:gridCol w="2743200"/>
              </a:tblGrid>
              <a:tr h="566928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الحالة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المخرجات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المرحلة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اليوم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أُنجز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المصحف كاملًا، وقاعدة البيانات، واسترجاع موثّق، وسجل المصادر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المصحف والأساس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الأحد ٤ أكتوبر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أُنجز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البحث بالنص والموضوع، وخريطة المعرفة لـ ٤٣ آية، وطبقة الثقة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البحث والتكامل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الاثنين ٥ أكتوبر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أُنجز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اختبار المصحف والذكاء الاصطناعي، والرابط المباشر، والمستودع والفيديو والتوثيق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الاختبار والنشر والتسليم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الثلاثاء ٦ أكتوبر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التسليم النهائي: الثلاثاء ٦ أكتوبر، بعد اكتمال جميع المتطلبات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8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9" name="Google Shape;709;p20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710" name="Google Shape;710;p20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التسليم</a:t>
            </a:r>
            <a:endParaRPr/>
          </a:p>
        </p:txBody>
      </p:sp>
      <p:sp>
        <p:nvSpPr>
          <p:cNvPr id="711" name="Google Shape;711;p20"/>
          <p:cNvSpPr txBox="1"/>
          <p:nvPr>
            <p:ph type="title"/>
          </p:nvPr>
        </p:nvSpPr>
        <p:spPr>
          <a:xfrm>
            <a:off x="6637950" y="1809750"/>
            <a:ext cx="102024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حزمة التسليم</a:t>
            </a:r>
            <a:endParaRPr/>
          </a:p>
        </p:txBody>
      </p:sp>
      <p:sp>
        <p:nvSpPr>
          <p:cNvPr id="712" name="Google Shape;712;p20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المخرجات المسلّمة مع هذا العرض</a:t>
            </a:r>
            <a:endParaRPr/>
          </a:p>
        </p:txBody>
      </p:sp>
      <p:sp>
        <p:nvSpPr>
          <p:cNvPr id="713" name="Google Shape;713;p2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714" name="Google Shape;714;p20"/>
          <p:cNvSpPr txBox="1"/>
          <p:nvPr>
            <p:ph idx="3" type="body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رابط الحل</a:t>
            </a:r>
            <a:endParaRPr/>
          </a:p>
        </p:txBody>
      </p:sp>
      <p:sp>
        <p:nvSpPr>
          <p:cNvPr id="715" name="Google Shape;715;p20"/>
          <p:cNvSpPr txBox="1"/>
          <p:nvPr>
            <p:ph idx="4" type="body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رابط مباشر يعمل، ومتاح للتجربة</a:t>
            </a:r>
            <a:endParaRPr/>
          </a:p>
        </p:txBody>
      </p:sp>
      <p:sp>
        <p:nvSpPr>
          <p:cNvPr id="716" name="Google Shape;716;p20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المستودع البرمجي</a:t>
            </a:r>
            <a:endParaRPr/>
          </a:p>
        </p:txBody>
      </p:sp>
      <p:sp>
        <p:nvSpPr>
          <p:cNvPr id="717" name="Google Shape;717;p20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مستودع GitHub عام بالكود وملفات التشغيل</a:t>
            </a:r>
            <a:endParaRPr/>
          </a:p>
        </p:txBody>
      </p:sp>
      <p:sp>
        <p:nvSpPr>
          <p:cNvPr id="718" name="Google Shape;718;p20"/>
          <p:cNvSpPr txBox="1"/>
          <p:nvPr>
            <p:ph idx="7" type="body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الفيديو التوضيحي</a:t>
            </a:r>
            <a:endParaRPr/>
          </a:p>
        </p:txBody>
      </p:sp>
      <p:sp>
        <p:nvSpPr>
          <p:cNvPr id="719" name="Google Shape;719;p20"/>
          <p:cNvSpPr txBox="1"/>
          <p:nvPr>
            <p:ph idx="8" type="body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عرض عملي للمنصة في أقل من دقيقتين</a:t>
            </a:r>
            <a:endParaRPr/>
          </a:p>
        </p:txBody>
      </p:sp>
      <p:sp>
        <p:nvSpPr>
          <p:cNvPr id="720" name="Google Shape;720;p20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التوثيق</a:t>
            </a:r>
            <a:endParaRPr/>
          </a:p>
        </p:txBody>
      </p:sp>
      <p:sp>
        <p:nvSpPr>
          <p:cNvPr id="721" name="Google Shape;721;p20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الإعداد والتشغيل، والمصادر، والأدوات والتراخيص</a:t>
            </a:r>
            <a:endParaRPr/>
          </a:p>
        </p:txBody>
      </p:sp>
      <p:pic>
        <p:nvPicPr>
          <p:cNvPr id="722" name="Google Shape;722;p20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الاستدامة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خطة التشغيل والتمويل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المحتوى مجاني للقارئ دائمًا، والتكلفة المتغيرة الوحيدة، الذكاء الاصطناعي، مضبوطة بحدود في الكود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643" name="Google Shape;643;p17"/>
          <p:cNvGraphicFramePr/>
          <p:nvPr/>
        </p:nvGraphicFramePr>
        <p:xfrm>
          <a:off x="1314450" y="3905250"/>
          <a:ext cx="15435072" cy="3401568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1810512"/>
                <a:gridCol w="4480560"/>
                <a:gridCol w="6035040"/>
                <a:gridCol w="3108960"/>
              </a:tblGrid>
              <a:tr h="566928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المرحلة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لماذا يناسب آفاق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الفكرة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الانطلاق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محتوى قرآني نفعه مستمر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وقف رقمي أو مساهمة من جهات وقفية تغطي التشغيل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الوقف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الانطلاق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يخدم هدف التحدي مباشرة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جهات خدمة القرآن ومبادرات الذكاء الاصطناعي الوطنية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المنح والدعم المؤسسي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النمو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طبقات الثقة قيمة يصعب بناؤها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مجاني للأفراد، وبرسوم للتطبيقات والمنصات التي تدمجه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ترخيص الواجهة البرمجية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النمو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الجامعات تحتاج مصادر موثقة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أدوات للمعلمين والباحثين، ومراجعة المقارنات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خدمات تعليمية وبحثية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النمو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يغطي التكلفة المتغيرة من مستخدميها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الاستكشاف مجاني، والتقارير المعمّقة باشتراك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تقارير بحثية متقدمة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خطة مقترحة لما بعد التحدي، وليست اتفاقيات قائمة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15435072" cy="3968496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5650992"/>
                <a:gridCol w="6675120"/>
                <a:gridCol w="3108960"/>
              </a:tblGrid>
              <a:tr h="566928">
                <a:tc>
                  <a:txBody>
                    <a:bodyPr/>
                    <a:lstStyle/>
                    <a:p>
                      <a:pPr indent="0" lvl="0" marL="0" marR="0" rtl="1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الرابط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الوصف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  <a:hlinkClick r:id="rId2"/>
                        </a:rPr>
                        <a:t>afaq-web.onrender.com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المنصة للتجربة: المصحف، والبحث، ورحلة الآية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المباشر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  <a:hlinkClick r:id="rId5"/>
                        </a:rPr>
                        <a:t>github.com/falfahad-source/-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الكود كاملًا، وملفات التشغيل والنشر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المستودع البرمجي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  <a:hlinkClick r:id="rId6"/>
                        </a:rPr>
                        <a:t>afaq-video-voiceover.mp4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جولة في المنصة مع تعليق صوتي، أقل من دقيقتين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الفيديو التوضيحي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  <a:hlinkClick r:id="rId7"/>
                        </a:rPr>
                        <a:t>afaq-documentation.pdf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الإعداد والتشغيل، والمصادر، والأدوات والتراخيص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التوثيق الفني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  <a:hlinkClick r:id="rId8"/>
                        </a:rPr>
                        <a:t>afaq-presentation.pdf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هذا العرض بصيغتي PDF وPowerPoint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العرض التقديمي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  <a:hlinkClick r:id="rId9"/>
                        </a:rPr>
                        <a:t>deliverables/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كل ملفات التسليم في مكان واحد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مجلد ملفات التسليم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الروابط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روابط المشروع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كل ما يلزم لتجربة المنصة ومراجعتها في مكان واحد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4" name="Google Shape;914;p31" title="خلفية هكثون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5" name="Google Shape;915;p31"/>
          <p:cNvSpPr txBox="1"/>
          <p:nvPr>
            <p:ph idx="1" type="body"/>
          </p:nvPr>
        </p:nvSpPr>
        <p:spPr>
          <a:xfrm>
            <a:off x="3810000" y="5676900"/>
            <a:ext cx="106680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0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آفاق — حين يلتقي التفسير بالمعرفة</a:t>
            </a:r>
            <a:endParaRPr/>
          </a:p>
        </p:txBody>
      </p:sp>
      <p:sp>
        <p:nvSpPr>
          <p:cNvPr id="916" name="Google Shape;916;p31"/>
          <p:cNvSpPr txBox="1"/>
          <p:nvPr>
            <p:ph idx="2" type="body"/>
          </p:nvPr>
        </p:nvSpPr>
        <p:spPr>
          <a:xfrm>
            <a:off x="3810000" y="6653200"/>
            <a:ext cx="106680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‎github.com/falfahad-source/-‎</a:t>
            </a:r>
            <a:endParaRPr/>
          </a:p>
        </p:txBody>
      </p:sp>
      <p:sp>
        <p:nvSpPr>
          <p:cNvPr id="917" name="Google Shape;917;p31"/>
          <p:cNvSpPr txBox="1"/>
          <p:nvPr>
            <p:ph type="title"/>
          </p:nvPr>
        </p:nvSpPr>
        <p:spPr>
          <a:xfrm>
            <a:off x="3810000" y="3819525"/>
            <a:ext cx="10668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rPr b="1" lang="ar-SA" sz="72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شكراً لكم</a:t>
            </a:r>
            <a:endParaRPr/>
          </a:p>
        </p:txBody>
      </p:sp>
      <p:pic>
        <p:nvPicPr>
          <p:cNvPr id="918" name="Google Shape;918;p31" title="شعار الهاكثون لايت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8450" y="1277075"/>
            <a:ext cx="6546002" cy="167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9" name="Google Shape;919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237879" y="1460433"/>
            <a:ext cx="1891696" cy="1195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0" name="Google Shape;920;p31" title="شعار عام الذكاء الاصطناعي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56994" y="1261812"/>
            <a:ext cx="2908672" cy="1708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1" name="Google Shape;921;p31" title="شعار سدايا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50489" y="7716733"/>
            <a:ext cx="2292680" cy="134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2" name="Google Shape;922;p31" title="شعار فيوتشر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79331" y="7929122"/>
            <a:ext cx="1570852" cy="921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31" title="شعار التحول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73933" y="7875719"/>
            <a:ext cx="1752806" cy="1028753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31"/>
          <p:cNvSpPr txBox="1"/>
          <p:nvPr/>
        </p:nvSpPr>
        <p:spPr>
          <a:xfrm>
            <a:off x="14046675" y="8254733"/>
            <a:ext cx="10620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شركاؤنا</a:t>
            </a:r>
            <a:r>
              <a:rPr lang="ar-SA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:</a:t>
            </a:r>
            <a:endParaRPr sz="18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cxnSp>
        <p:nvCxnSpPr>
          <p:cNvPr id="925" name="Google Shape;925;p31"/>
          <p:cNvCxnSpPr/>
          <p:nvPr/>
        </p:nvCxnSpPr>
        <p:spPr>
          <a:xfrm>
            <a:off x="7456246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6" name="Google Shape;926;p31"/>
          <p:cNvCxnSpPr/>
          <p:nvPr/>
        </p:nvCxnSpPr>
        <p:spPr>
          <a:xfrm>
            <a:off x="5075007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927" name="Google Shape;927;p31" title="شعار وزارة الاتصالات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602750" y="7979050"/>
            <a:ext cx="3035650" cy="847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8" name="Google Shape;928;p31"/>
          <p:cNvCxnSpPr/>
          <p:nvPr/>
        </p:nvCxnSpPr>
        <p:spPr>
          <a:xfrm>
            <a:off x="10366904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